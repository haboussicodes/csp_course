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9" r:id="rId15"/>
    <p:sldId id="268" r:id="rId16"/>
    <p:sldId id="270" r:id="rId17"/>
    <p:sldId id="271" r:id="rId18"/>
  </p:sldIdLst>
  <p:sldSz cx="12192000" cy="6858000"/>
  <p:notesSz cx="6858000" cy="12192000"/>
  <p:embeddedFontLs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IBM Plex Sans" panose="020B0503050203000203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  <p:embeddedFont>
      <p:font typeface="IBM Plex Mono" panose="020B0509050203000203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8CB02BC-364E-40BD-ADF2-22D2783BB3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5" name="Google Shape;25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50" name="Google Shape;50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ae532b14_1_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3fbae532b14_1_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60" name="Google Shape;60;g3fbae532b14_1_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b70bf46e_0_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fbb70bf46e_0_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programs return (1,9),(2,8),(3,7),(4,6). Ask: what changes in each program if we add a third variable z? The imperative one needs a new loop; the declarative one just a new line. Other declarative families: SQL, Prolog, functional programming.</a:t>
            </a:r>
            <a:endParaRPr lang="en-US"/>
          </a:p>
        </p:txBody>
      </p:sp>
      <p:sp>
        <p:nvSpPr>
          <p:cNvPr id="75" name="Google Shape;75;g3fbb70bf46e_0_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CSP = Constraint Satisfaction Problem. Stress that domains are finite in this course (finite-domain CP).</a:t>
            </a:r>
            <a:endParaRPr lang="en-US"/>
          </a:p>
        </p:txBody>
      </p:sp>
      <p:sp>
        <p:nvSpPr>
          <p:cNvPr id="85" name="Google Shape;85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bb70bf46e_0_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3fbb70bf46e_0_14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CSP = Constraint Satisfaction Problem. Stress that domains are finite in this course (finite-domain CP).</a:t>
            </a:r>
            <a:endParaRPr lang="en-US"/>
          </a:p>
        </p:txBody>
      </p:sp>
      <p:sp>
        <p:nvSpPr>
          <p:cNvPr id="110" name="Google Shape;110;g3fbb70bf46e_0_14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Intension is compact; extension (table constraints) can express any relation. Global constraints (AllDifferent, Cumulative, Circuit) are studied in Chapter 2.</a:t>
            </a:r>
            <a:endParaRPr lang="en-US"/>
          </a:p>
        </p:txBody>
      </p:sp>
      <p:sp>
        <p:nvSpPr>
          <p:cNvPr id="137" name="Google Shape;137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1d5f4529efa7fa8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h61d5f4529efa7fa8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Intension is compact; extension (table constraints) can express any relation. Global constraints (AllDifferent, Cumulative, Circuit) are studied in Chapter 2.</a:t>
            </a:r>
            <a:endParaRPr lang="en-US"/>
          </a:p>
        </p:txBody>
      </p:sp>
      <p:sp>
        <p:nvSpPr>
          <p:cNvPr id="147" name="Google Shape;147;h61d5f4529efa7fa8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out: {x=3, y=1} is complete but not consistent. {x=2} is consistent but not complete.</a:t>
            </a:r>
            <a:endParaRPr lang="en-US"/>
          </a:p>
        </p:txBody>
      </p:sp>
      <p:sp>
        <p:nvSpPr>
          <p:cNvPr id="157" name="Google Shape;157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68" name="Google Shape;168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93" name="Google Shape;193;p1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56db7d21b678a074_0_2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h56db7d21b678a074_0_2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79" name="Google Shape;179;h56db7d21b678a074_0_2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17" name="Google Shape;217;p1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56db7d21b678a074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h56db7d21b678a074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42" name="Google Shape;242;h56db7d21b678a074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B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7434"/>
              </a:buClr>
              <a:buSzPts val="1400"/>
              <a:buFont typeface="IBM Plex Sans" panose="020B0503050203000203"/>
              <a:buNone/>
            </a:pPr>
            <a:r>
              <a:rPr lang="en-US" sz="1400" b="1" i="0" u="none" strike="noStrike" cap="none">
                <a:solidFill>
                  <a:srgbClr val="E07434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SEMESTER 3 · UEM3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1828932"/>
            <a:ext cx="7063740" cy="34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A"/>
              </a:buClr>
              <a:buSzPts val="1800"/>
              <a:buFont typeface="IBM Plex Sans" panose="020B0503050203000203"/>
              <a:buNone/>
            </a:pPr>
            <a:r>
              <a:rPr lang="en-US" sz="1800" b="0" i="0" u="none" strike="noStrike" cap="none">
                <a:solidFill>
                  <a:srgbClr val="B9C2C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Chapter 1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2326746"/>
            <a:ext cx="7063740" cy="2265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2EA"/>
              </a:buClr>
              <a:buSzPts val="5600"/>
              <a:buFont typeface="Space Grotesk"/>
              <a:buNone/>
            </a:pPr>
            <a:r>
              <a:rPr lang="en-US" sz="5600" b="1" i="0" u="none" strike="noStrike" cap="none">
                <a:solidFill>
                  <a:srgbClr val="F5F2E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Introduction to Constraint Programming</a:t>
            </a:r>
            <a:endParaRPr sz="5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01850" y="5143507"/>
            <a:ext cx="70638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A"/>
              </a:buClr>
              <a:buSzPts val="1600"/>
              <a:buFont typeface="IBM Plex Sans" panose="020B0503050203000203"/>
              <a:buNone/>
            </a:pPr>
            <a:r>
              <a:rPr lang="en-US" sz="1600" b="0" i="0" u="none" strike="noStrike" cap="none">
                <a:solidFill>
                  <a:srgbClr val="B9C2C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Paradigms · CSP definitions · Worked examples · Applications 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2800" y="5796293"/>
            <a:ext cx="10883392" cy="27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A"/>
              </a:buClr>
              <a:buSzPts val="1400"/>
              <a:buFont typeface="IBM Plex Sans" panose="020B0503050203000203"/>
              <a:buNone/>
            </a:pPr>
            <a:r>
              <a:rPr lang="en-US">
                <a:solidFill>
                  <a:srgbClr val="B9C2C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S.HABOUSSI</a:t>
            </a:r>
            <a:r>
              <a:rPr lang="en-US" sz="1400" b="0" i="0" u="none" strike="noStrike" cap="none">
                <a:solidFill>
                  <a:srgbClr val="B9C2C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· Université Akli Mohand Oulhadj Bouira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1" name="Google Shape;21;p3" descr="Decorative constraint graph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823200" y="1714500"/>
            <a:ext cx="3556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LEARNING OBJECTIVES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12800" y="1089620"/>
            <a:ext cx="10883392" cy="47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By the end of this chapter, you can…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15975" y="1819209"/>
            <a:ext cx="5175250" cy="1294937"/>
          </a:xfrm>
          <a:prstGeom prst="roundRect">
            <a:avLst>
              <a:gd name="adj" fmla="val 760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4"/>
          <p:cNvSpPr/>
          <p:nvPr/>
        </p:nvSpPr>
        <p:spPr>
          <a:xfrm>
            <a:off x="1045633" y="2048867"/>
            <a:ext cx="493779" cy="86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666412" y="2048867"/>
            <a:ext cx="4218009" cy="29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Contrast two paradigms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666412" y="2386674"/>
            <a:ext cx="4218009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Explain how declarative programming differs from imperative programming.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200775" y="1819209"/>
            <a:ext cx="5175250" cy="1294937"/>
          </a:xfrm>
          <a:prstGeom prst="roundRect">
            <a:avLst>
              <a:gd name="adj" fmla="val 760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4"/>
          <p:cNvSpPr/>
          <p:nvPr/>
        </p:nvSpPr>
        <p:spPr>
          <a:xfrm>
            <a:off x="6430433" y="2048867"/>
            <a:ext cx="555559" cy="86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112992" y="2048867"/>
            <a:ext cx="4154376" cy="29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Define a CSP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112992" y="2386674"/>
            <a:ext cx="4154376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State the triple (X, D, C) and the terms variable, domain, constraint, solution.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15975" y="3323696"/>
            <a:ext cx="5175250" cy="1294937"/>
          </a:xfrm>
          <a:prstGeom prst="roundRect">
            <a:avLst>
              <a:gd name="adj" fmla="val 760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4"/>
          <p:cNvSpPr/>
          <p:nvPr/>
        </p:nvSpPr>
        <p:spPr>
          <a:xfrm>
            <a:off x="1045633" y="3553354"/>
            <a:ext cx="560057" cy="86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732690" y="3553354"/>
            <a:ext cx="4149743" cy="29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small problems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732690" y="3891161"/>
            <a:ext cx="4149743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Translate a word problem into variables, domains and constraints.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200775" y="3323696"/>
            <a:ext cx="5175250" cy="1294937"/>
          </a:xfrm>
          <a:prstGeom prst="roundRect">
            <a:avLst>
              <a:gd name="adj" fmla="val 760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" name="Google Shape;42;p4"/>
          <p:cNvSpPr/>
          <p:nvPr/>
        </p:nvSpPr>
        <p:spPr>
          <a:xfrm>
            <a:off x="6430433" y="3553354"/>
            <a:ext cx="570640" cy="86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128073" y="3553354"/>
            <a:ext cx="4138842" cy="29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Spot CP problems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128073" y="3891161"/>
            <a:ext cx="4138842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Recognise planning, timetabling, configuration and allocation tasks.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12800" y="6238280"/>
            <a:ext cx="25289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1.1 · PARADIGMS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12800" y="1089620"/>
            <a:ext cx="10883392" cy="47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Imperative vs declarative programming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812800" y="6238280"/>
            <a:ext cx="25289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1353125" y="6238280"/>
            <a:ext cx="14228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1054250" y="2125100"/>
            <a:ext cx="9299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In programing there is two types of programing paradigms: </a:t>
            </a: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b="1"/>
              <a:t>Imperative: i</a:t>
            </a:r>
            <a:r>
              <a:rPr lang="en-US" sz="2400"/>
              <a:t>n this paradigm we just step by step </a:t>
            </a:r>
            <a:r>
              <a:rPr lang="en-US" sz="2400" b="1" u="sng">
                <a:solidFill>
                  <a:srgbClr val="B14A17"/>
                </a:solidFill>
              </a:rPr>
              <a:t>How </a:t>
            </a:r>
            <a:r>
              <a:rPr lang="en-US" sz="2400" b="1">
                <a:solidFill>
                  <a:srgbClr val="B14A17"/>
                </a:solidFill>
              </a:rPr>
              <a:t>to do something </a:t>
            </a:r>
            <a:endParaRPr sz="2400" b="1">
              <a:solidFill>
                <a:srgbClr val="B14A17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b="1"/>
              <a:t>Declarative:</a:t>
            </a:r>
            <a:r>
              <a:rPr lang="en-US" sz="2400"/>
              <a:t>in this paradigm We just describe</a:t>
            </a:r>
            <a:r>
              <a:rPr lang="en-US" sz="2400">
                <a:solidFill>
                  <a:srgbClr val="B14A17"/>
                </a:solidFill>
              </a:rPr>
              <a:t> </a:t>
            </a:r>
            <a:r>
              <a:rPr lang="en-US" sz="2400" b="1" u="sng">
                <a:solidFill>
                  <a:srgbClr val="B14A17"/>
                </a:solidFill>
              </a:rPr>
              <a:t>what</a:t>
            </a:r>
            <a:r>
              <a:rPr lang="en-US" sz="2400">
                <a:solidFill>
                  <a:srgbClr val="B14A17"/>
                </a:solidFill>
              </a:rPr>
              <a:t> we want</a:t>
            </a:r>
            <a:endParaRPr sz="2100">
              <a:solidFill>
                <a:srgbClr val="B14A1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812800" y="81280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1.1 · PARADIGMS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12800" y="10896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Imperative vs declarative programming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812800" y="1816035"/>
            <a:ext cx="10883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 panose="020B0503050203000203"/>
              <a:buNone/>
            </a:pPr>
            <a:r>
              <a:rPr lang="en-US" sz="1500" b="0" i="0" u="none" strike="noStrike" cap="none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Task: find </a:t>
            </a:r>
            <a:r>
              <a:rPr lang="en-US" sz="1500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The sum of numbers in list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812800" y="2362135"/>
            <a:ext cx="52848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Imperative — you write HOW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812800" y="2776220"/>
            <a:ext cx="5130800" cy="2180590"/>
          </a:xfrm>
          <a:prstGeom prst="roundRect">
            <a:avLst>
              <a:gd name="adj" fmla="val 6557"/>
            </a:avLst>
          </a:prstGeom>
          <a:solidFill>
            <a:srgbClr val="15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6"/>
          <p:cNvSpPr/>
          <p:nvPr/>
        </p:nvSpPr>
        <p:spPr>
          <a:xfrm>
            <a:off x="904400" y="2585600"/>
            <a:ext cx="4377900" cy="1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E6D9"/>
              </a:buClr>
              <a:buSzPts val="1200"/>
              <a:buFont typeface="IBM Plex Mono" panose="020B0509050203000203"/>
              <a:buNone/>
            </a:pPr>
            <a:endParaRPr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E6D9"/>
              </a:buClr>
              <a:buSzPts val="1200"/>
              <a:buFont typeface="IBM Plex Mono" panose="020B0509050203000203"/>
              <a:buNone/>
            </a:pPr>
            <a:r>
              <a:rPr lang="en-US" sz="16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total = 0</a:t>
            </a: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E6D9"/>
              </a:buClr>
              <a:buSzPts val="1200"/>
              <a:buFont typeface="IBM Plex Mono" panose="020B0509050203000203"/>
              <a:buNone/>
            </a:pPr>
            <a:r>
              <a:rPr lang="en-US" sz="16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my_list = [1, 2, 3, 4, 5]</a:t>
            </a: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E6D9"/>
              </a:buClr>
              <a:buSzPts val="1200"/>
              <a:buFont typeface="IBM Plex Mono" panose="020B0509050203000203"/>
              <a:buNone/>
            </a:pPr>
            <a:r>
              <a:rPr lang="en-US" sz="16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num in my_list:</a:t>
            </a: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E6D9"/>
              </a:buClr>
              <a:buSzPts val="1200"/>
              <a:buFont typeface="IBM Plex Mono" panose="020B0509050203000203"/>
              <a:buNone/>
            </a:pPr>
            <a:r>
              <a:rPr lang="en-US" sz="16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total += num</a:t>
            </a: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E6D9"/>
              </a:buClr>
              <a:buSzPts val="1200"/>
              <a:buFont typeface="IBM Plex Mono" panose="020B0509050203000203"/>
              <a:buNone/>
            </a:pPr>
            <a:r>
              <a:rPr lang="en-US" sz="16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print(total) # Output: 15</a:t>
            </a:r>
            <a:endParaRPr sz="16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BE6D9"/>
              </a:buClr>
              <a:buSzPts val="1200"/>
              <a:buFont typeface="IBM Plex Mono" panose="020B0509050203000203"/>
              <a:buNone/>
            </a:pPr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248400" y="2362135"/>
            <a:ext cx="52848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F6F6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Declarative — you write WHAT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383655" y="2776220"/>
            <a:ext cx="5130800" cy="2180590"/>
          </a:xfrm>
          <a:prstGeom prst="roundRect">
            <a:avLst>
              <a:gd name="adj" fmla="val 6557"/>
            </a:avLst>
          </a:prstGeom>
          <a:solidFill>
            <a:srgbClr val="15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my_list = [1, 2, 3, 4, 5]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total = sum(my_list)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</a:rPr>
              <a:t>print(total) # Output: 15</a:t>
            </a: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812800" y="6238280"/>
            <a:ext cx="2529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1287720" y="6238280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812800" y="81280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1.1 · </a:t>
            </a:r>
            <a:r>
              <a:rPr lang="en-US" sz="1200" b="1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DEFINITIONS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12800" y="10896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Introduction to CSP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812800" y="6238280"/>
            <a:ext cx="2529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1287720" y="6238280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1054250" y="2125100"/>
            <a:ext cx="9299400" cy="47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Is type of declarative programing when user states the problem and the solver find the solution.</a:t>
            </a:r>
            <a:endParaRPr sz="2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Is type of AI where many decisions are taken in parallal</a:t>
            </a:r>
            <a:endParaRPr sz="27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The solution of CSP is</a:t>
            </a:r>
            <a:r>
              <a:rPr lang="en-US" sz="2700" b="1" u="sng">
                <a:solidFill>
                  <a:srgbClr val="B14A17"/>
                </a:solidFill>
              </a:rPr>
              <a:t> satisfying all the constrains of the problem</a:t>
            </a:r>
            <a:r>
              <a:rPr lang="en-US" sz="2700">
                <a:solidFill>
                  <a:schemeClr val="dk1"/>
                </a:solidFill>
              </a:rPr>
              <a:t> </a:t>
            </a:r>
            <a:endParaRPr sz="2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CSP contains : </a:t>
            </a:r>
            <a:r>
              <a:rPr lang="en-US" sz="2700">
                <a:solidFill>
                  <a:srgbClr val="FF0000"/>
                </a:solidFill>
              </a:rPr>
              <a:t>Variables</a:t>
            </a:r>
            <a:r>
              <a:rPr lang="en-US" sz="2700">
                <a:solidFill>
                  <a:schemeClr val="dk1"/>
                </a:solidFill>
              </a:rPr>
              <a:t>, </a:t>
            </a:r>
            <a:r>
              <a:rPr lang="en-US" sz="2700">
                <a:solidFill>
                  <a:srgbClr val="FF0000"/>
                </a:solidFill>
              </a:rPr>
              <a:t>Domains</a:t>
            </a:r>
            <a:r>
              <a:rPr lang="en-US" sz="2700">
                <a:solidFill>
                  <a:schemeClr val="dk1"/>
                </a:solidFill>
              </a:rPr>
              <a:t> , </a:t>
            </a:r>
            <a:r>
              <a:rPr lang="en-US" sz="2700">
                <a:solidFill>
                  <a:srgbClr val="FF0000"/>
                </a:solidFill>
              </a:rPr>
              <a:t>Constraints.</a:t>
            </a:r>
            <a:endParaRPr sz="2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 </a:t>
            </a:r>
            <a:endParaRPr sz="2400">
              <a:solidFill>
                <a:srgbClr val="B14A1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1.2 · DEFINITIONS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812800" y="1089620"/>
            <a:ext cx="10883392" cy="47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CSP is a triple P = (X, D, C)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815975" y="1819210"/>
            <a:ext cx="3380317" cy="1860021"/>
          </a:xfrm>
          <a:prstGeom prst="roundRect">
            <a:avLst>
              <a:gd name="adj" fmla="val 5292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8"/>
          <p:cNvSpPr/>
          <p:nvPr/>
        </p:nvSpPr>
        <p:spPr>
          <a:xfrm>
            <a:off x="1045633" y="2048867"/>
            <a:ext cx="300863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VARIABLES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045633" y="2351088"/>
            <a:ext cx="3008630" cy="2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X — variables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1045633" y="2702852"/>
            <a:ext cx="3008630" cy="77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X = {x₁, …, xₙ}, a finite set of </a:t>
            </a:r>
            <a:r>
              <a:rPr lang="en-US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Variables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405842" y="1819210"/>
            <a:ext cx="3380317" cy="1860021"/>
          </a:xfrm>
          <a:prstGeom prst="roundRect">
            <a:avLst>
              <a:gd name="adj" fmla="val 5292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8"/>
          <p:cNvSpPr/>
          <p:nvPr/>
        </p:nvSpPr>
        <p:spPr>
          <a:xfrm>
            <a:off x="4635500" y="2048867"/>
            <a:ext cx="300863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DOMAINS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635500" y="2351088"/>
            <a:ext cx="3008630" cy="2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D — domains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635500" y="2702852"/>
            <a:ext cx="3008630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each variable Xi has non empty  Domain of possible values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7995709" y="1819210"/>
            <a:ext cx="3380317" cy="1860021"/>
          </a:xfrm>
          <a:prstGeom prst="roundRect">
            <a:avLst>
              <a:gd name="adj" fmla="val 5292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8"/>
          <p:cNvSpPr/>
          <p:nvPr/>
        </p:nvSpPr>
        <p:spPr>
          <a:xfrm>
            <a:off x="8225367" y="2048867"/>
            <a:ext cx="300863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8225367" y="2351088"/>
            <a:ext cx="3008630" cy="2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C — constraints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8225367" y="2702852"/>
            <a:ext cx="3008630" cy="77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 = {c₁, …, cₘ}; each cⱼ has a scope (its variables) and a relation (allowed value combinations).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812800" y="3961800"/>
            <a:ext cx="10566300" cy="1309200"/>
          </a:xfrm>
          <a:prstGeom prst="roundRect">
            <a:avLst>
              <a:gd name="adj" fmla="val 9976"/>
            </a:avLst>
          </a:prstGeom>
          <a:solidFill>
            <a:srgbClr val="15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8"/>
          <p:cNvSpPr/>
          <p:nvPr/>
        </p:nvSpPr>
        <p:spPr>
          <a:xfrm>
            <a:off x="1041400" y="4190405"/>
            <a:ext cx="10412476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7434"/>
              </a:buClr>
              <a:buSzPts val="1200"/>
              <a:buFont typeface="IBM Plex Sans" panose="020B0503050203000203"/>
              <a:buNone/>
            </a:pPr>
            <a:r>
              <a:rPr lang="en-US" sz="1700" b="1" i="0" u="none" strike="noStrike" cap="none">
                <a:solidFill>
                  <a:srgbClr val="E07434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SOLVING A CSP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041400" y="4467225"/>
            <a:ext cx="10412476" cy="30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A"/>
              </a:buClr>
              <a:buSzPts val="1600"/>
              <a:buFont typeface="IBM Plex Sans" panose="020B0503050203000203"/>
              <a:buNone/>
            </a:pPr>
            <a:r>
              <a:rPr lang="en-US" sz="2100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By finding an assignment of values to variables </a:t>
            </a:r>
            <a:r>
              <a:rPr lang="en-US" sz="2100" b="0" i="0" u="none" strike="noStrike" cap="none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</a:t>
            </a:r>
            <a:r>
              <a:rPr lang="en-US" sz="2100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uch that all </a:t>
            </a:r>
            <a:r>
              <a:rPr lang="en-US" sz="2100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constraints</a:t>
            </a:r>
            <a:r>
              <a:rPr lang="en-US" sz="2100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are </a:t>
            </a:r>
            <a:r>
              <a:rPr lang="en-US" sz="2100" b="0" i="0" u="none" strike="noStrike" cap="none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satisfied.</a:t>
            </a:r>
            <a:endParaRPr sz="2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812800" y="6238280"/>
            <a:ext cx="25289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5232275" y="3240350"/>
            <a:ext cx="696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812800" y="81280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1.2 · </a:t>
            </a:r>
            <a:r>
              <a:rPr lang="en-US" sz="1200" b="1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Example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812800" y="10896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CSP is a triple P = (X, D, C)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1041400" y="1767200"/>
            <a:ext cx="104124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900" b="1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={1,2,3}</a:t>
            </a:r>
            <a:endParaRPr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900" b="1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=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{1,2,3}</a:t>
            </a:r>
            <a:endParaRPr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900" b="1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={1,2,3}</a:t>
            </a:r>
            <a:endParaRPr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600" b="1">
                <a:solidFill>
                  <a:srgbClr val="B14A17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Variable</a:t>
            </a:r>
            <a:r>
              <a:rPr lang="en-US" sz="16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=A,B,C</a:t>
            </a:r>
            <a:endParaRPr sz="16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600" b="1">
                <a:solidFill>
                  <a:srgbClr val="B14A17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Domain of each variable is:</a:t>
            </a:r>
            <a:endParaRPr sz="1600" b="1">
              <a:solidFill>
                <a:srgbClr val="B14A17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6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Domain of </a:t>
            </a:r>
            <a:r>
              <a:rPr lang="en-US" sz="1600" b="1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</a:t>
            </a:r>
            <a:r>
              <a:rPr lang="en-US" sz="16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=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{1,2,3}</a:t>
            </a:r>
            <a:endParaRPr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6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Domain of </a:t>
            </a:r>
            <a:r>
              <a:rPr lang="en-US" sz="1600" b="1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</a:t>
            </a:r>
            <a:r>
              <a:rPr lang="en-US" sz="16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=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{1,2,3}</a:t>
            </a:r>
            <a:endParaRPr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6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Domain of </a:t>
            </a:r>
            <a:r>
              <a:rPr lang="en-US" sz="1600" b="1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</a:t>
            </a:r>
            <a:r>
              <a:rPr lang="en-US" sz="16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=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{1,2,3}</a:t>
            </a:r>
            <a:endParaRPr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900" b="1">
                <a:solidFill>
                  <a:srgbClr val="B14A17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Constraints</a:t>
            </a: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: A&gt;B,  A!=B,  A!=C</a:t>
            </a:r>
            <a:endParaRPr lang="en-US"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900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</a:t>
            </a:r>
            <a:endParaRPr sz="19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endParaRPr sz="17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endParaRPr sz="17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endParaRPr sz="17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endParaRPr sz="1700"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endParaRPr>
              <a:solidFill>
                <a:srgbClr val="2B333B"/>
              </a:solidFill>
              <a:latin typeface="IBM Plex Sans" panose="020B0503050203000203"/>
              <a:ea typeface="IBM Plex Sans" panose="020B0503050203000203"/>
              <a:cs typeface="IBM Plex Sans" panose="020B0503050203000203"/>
              <a:sym typeface="IBM Plex Sans" panose="020B0503050203000203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812800" y="5373370"/>
            <a:ext cx="10566400" cy="915670"/>
          </a:xfrm>
          <a:prstGeom prst="roundRect">
            <a:avLst>
              <a:gd name="adj" fmla="val 9976"/>
            </a:avLst>
          </a:prstGeom>
          <a:solidFill>
            <a:srgbClr val="15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9"/>
          <p:cNvSpPr/>
          <p:nvPr/>
        </p:nvSpPr>
        <p:spPr>
          <a:xfrm>
            <a:off x="966750" y="531878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7434"/>
              </a:buClr>
              <a:buSzPts val="1200"/>
              <a:buFont typeface="IBM Plex Sans" panose="020B0503050203000203"/>
              <a:buNone/>
            </a:pPr>
            <a:r>
              <a:rPr lang="en-US" sz="1700" b="1" i="0" u="none" strike="noStrike" cap="none">
                <a:solidFill>
                  <a:srgbClr val="E07434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SOLVING A CSP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966750" y="5611425"/>
            <a:ext cx="104124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A"/>
              </a:buClr>
              <a:buSzPts val="1600"/>
              <a:buFont typeface="IBM Plex Sans" panose="020B0503050203000203"/>
              <a:buNone/>
            </a:pPr>
            <a:r>
              <a:rPr lang="en-US" sz="2100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By finding an assignment of values to variables </a:t>
            </a:r>
            <a:r>
              <a:rPr lang="en-US" sz="2100" b="0" i="0" u="none" strike="noStrike" cap="none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</a:t>
            </a:r>
            <a:r>
              <a:rPr lang="en-US" sz="2100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uch that all constraints are </a:t>
            </a:r>
            <a:r>
              <a:rPr lang="en-US" sz="2100" b="0" i="0" u="none" strike="noStrike" cap="none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satisfied.</a:t>
            </a:r>
            <a:endParaRPr sz="2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812800" y="6238280"/>
            <a:ext cx="2529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11287720" y="6238280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9"/>
          <p:cNvSpPr txBox="1"/>
          <p:nvPr/>
        </p:nvSpPr>
        <p:spPr>
          <a:xfrm>
            <a:off x="5232275" y="3240350"/>
            <a:ext cx="696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r>
            <a:endParaRPr lang="en-US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812800" y="679625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1.2 · DEFINITIONS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12813" y="9184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of Constraints 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812825" y="1466525"/>
            <a:ext cx="52587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By arity (number of variables)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43" name="Google Shape;143;p11"/>
          <p:cNvGraphicFramePr/>
          <p:nvPr/>
        </p:nvGraphicFramePr>
        <p:xfrm>
          <a:off x="812800" y="2194026"/>
          <a:ext cx="11137600" cy="3375000"/>
        </p:xfrm>
        <a:graphic>
          <a:graphicData uri="http://schemas.openxmlformats.org/drawingml/2006/table">
            <a:tbl>
              <a:tblPr>
                <a:noFill/>
                <a:tableStyleId>{58CB02BC-364E-40BD-ADF2-22D2783BB354}</a:tableStyleId>
              </a:tblPr>
              <a:tblGrid>
                <a:gridCol w="1514150"/>
                <a:gridCol w="2622175"/>
                <a:gridCol w="7001275"/>
              </a:tblGrid>
              <a:tr h="381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Arity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500" b="1">
                          <a:solidFill>
                            <a:schemeClr val="dk1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rule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Example</a:t>
                      </a:r>
                      <a:endParaRPr sz="1300" b="1" u="none" strike="noStrike" cap="none">
                        <a:solidFill>
                          <a:schemeClr val="dk1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</a:tr>
              <a:tr h="143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20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Unary</a:t>
                      </a:r>
                      <a:endParaRPr sz="20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9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x ≠ 3</a:t>
                      </a:r>
                      <a:endParaRPr sz="19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Imagine that you are rolling a die, and </a:t>
                      </a:r>
                      <a:r>
                        <a:rPr lang="en-US" sz="1500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x</a:t>
                      </a: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  is the number that appears: </a:t>
                      </a:r>
                      <a:r>
                        <a:rPr lang="en-US" sz="1500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{1, 2, 3, 4, 5, 6}</a:t>
                      </a: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.</a:t>
                      </a:r>
                      <a:endParaRPr sz="1500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 rule states: </a:t>
                      </a:r>
                      <a:r>
                        <a:rPr lang="en-US" sz="1500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 number 3 is not allowed.</a:t>
                      </a:r>
                      <a:endParaRPr sz="1500"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Therefore, the remaining values are: </a:t>
                      </a:r>
                      <a:r>
                        <a:rPr lang="en-US" sz="1500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{1, 2, 4, 5, 6}.</a:t>
                      </a:r>
                      <a:endParaRPr sz="1500"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53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9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Binary</a:t>
                      </a:r>
                      <a:endParaRPr sz="19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20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x &lt; y</a:t>
                      </a:r>
                      <a:endParaRPr sz="20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x is Ahmed’s age, and y is his older brother’s age. Each age belongs to </a:t>
                      </a:r>
                      <a:r>
                        <a:rPr lang="en-US" sz="1500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{1, 2, 3}</a:t>
                      </a: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.</a:t>
                      </a:r>
                      <a:endParaRPr sz="1500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 rule states: </a:t>
                      </a:r>
                      <a:r>
                        <a:rPr lang="en-US" sz="1500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Ahmed is younger than his brother.</a:t>
                      </a:r>
                      <a:endParaRPr sz="1500"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 allowed combinations are:</a:t>
                      </a:r>
                      <a:r>
                        <a:rPr lang="en-US" sz="1500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 ((1, 2),(1, 3), and (2, 3)).</a:t>
                      </a:r>
                      <a:endParaRPr sz="1500"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/>
          <p:nvPr/>
        </p:nvSpPr>
        <p:spPr>
          <a:xfrm>
            <a:off x="11287720" y="6238280"/>
            <a:ext cx="1422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8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812800" y="679625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1.2 · DEFINITIONS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812813" y="9184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of Constraints 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812825" y="1466525"/>
            <a:ext cx="52587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By arity (number of variables)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53" name="Google Shape;153;p12"/>
          <p:cNvGraphicFramePr/>
          <p:nvPr>
            <p:custDataLst>
              <p:tags r:id="rId1"/>
            </p:custDataLst>
          </p:nvPr>
        </p:nvGraphicFramePr>
        <p:xfrm>
          <a:off x="623570" y="1772920"/>
          <a:ext cx="11246485" cy="5010150"/>
        </p:xfrm>
        <a:graphic>
          <a:graphicData uri="http://schemas.openxmlformats.org/drawingml/2006/table">
            <a:tbl>
              <a:tblPr>
                <a:noFill/>
                <a:tableStyleId>{58CB02BC-364E-40BD-ADF2-22D2783BB354}</a:tableStyleId>
              </a:tblPr>
              <a:tblGrid>
                <a:gridCol w="1529080"/>
                <a:gridCol w="2510155"/>
                <a:gridCol w="7207250"/>
              </a:tblGrid>
              <a:tr h="497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Arity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500" b="1">
                          <a:solidFill>
                            <a:schemeClr val="dk1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rule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Example</a:t>
                      </a:r>
                      <a:endParaRPr sz="1300" b="1" u="none" strike="noStrike" cap="none">
                        <a:solidFill>
                          <a:schemeClr val="dk1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</a:tr>
              <a:tr h="1670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20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Ternary</a:t>
                      </a:r>
                      <a:endParaRPr sz="20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20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x + y = z</a:t>
                      </a:r>
                      <a:endParaRPr sz="20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You have a bag of candy containing </a:t>
                      </a: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(x)</a:t>
                      </a: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 pieces and another bag containing </a:t>
                      </a: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(y)</a:t>
                      </a: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 pieces. You put the contents of both bags into a box containing </a:t>
                      </a: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(z)</a:t>
                      </a: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 pieces.</a:t>
                      </a:r>
                      <a:endParaRPr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 rule states: </a:t>
                      </a: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 sum of the two bags equals the number of pieces in the box.</a:t>
                      </a:r>
                      <a:endParaRPr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If the values are from ({1, 2, 3}), the allowed combinations are: ((1, 1, 2)), ((1, 2, 3)), and ((2, 1, 3)).</a:t>
                      </a:r>
                      <a:endParaRPr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4226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20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n-ary / global</a:t>
                      </a:r>
                      <a:endParaRPr sz="20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9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AllDifferent(x₁, …, xₙ)</a:t>
                      </a:r>
                      <a:endParaRPr sz="19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Three children, each choosing a colored ball: red, green, or blue.</a:t>
                      </a:r>
                      <a:endParaRPr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The rule states: </a:t>
                      </a: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no two children can choose the same color</a:t>
                      </a: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.</a:t>
                      </a:r>
                      <a:endParaRPr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Without this constraint, we would need to write 3 separate constraints:</a:t>
                      </a:r>
                      <a:endParaRPr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`x₁ ≠ x₂`, `x₁ ≠ x₃`, and `x₂ ≠ x₃`</a:t>
                      </a:r>
                      <a:endParaRPr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With **</a:t>
                      </a: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AllDifferent</a:t>
                      </a: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**, only **one line** is needed.</a:t>
                      </a:r>
                      <a:endParaRPr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B14A17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With 10 children, that single line replaces **45 separate constraints**!</a:t>
                      </a:r>
                      <a:endParaRPr>
                        <a:solidFill>
                          <a:srgbClr val="B14A17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 One constraint can apply to **all variables at once**, and the solver understands it and uses it intelligently.</a:t>
                      </a:r>
                      <a:endParaRPr b="1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1.2 · DEFINITIONS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812800" y="1089620"/>
            <a:ext cx="10883392" cy="47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Assignments, consistency and solutions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61" name="Google Shape;161;p13"/>
          <p:cNvGraphicFramePr/>
          <p:nvPr/>
        </p:nvGraphicFramePr>
        <p:xfrm>
          <a:off x="812800" y="1816038"/>
          <a:ext cx="10566375" cy="3000000"/>
        </p:xfrm>
        <a:graphic>
          <a:graphicData uri="http://schemas.openxmlformats.org/drawingml/2006/table">
            <a:tbl>
              <a:tblPr>
                <a:noFill/>
                <a:tableStyleId>{58CB02BC-364E-40BD-ADF2-22D2783BB354}</a:tableStyleId>
              </a:tblPr>
              <a:tblGrid>
                <a:gridCol w="3522125"/>
                <a:gridCol w="3522125"/>
                <a:gridCol w="3522125"/>
              </a:tblGrid>
              <a:tr h="439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5F2EA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Term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5F2EA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Meaning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5F2EA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Example with x &lt; y, D = {1,2,3}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Assignment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Values given to some variables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{x = 2}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Complete assignment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Every variable has a value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{x = 3, y = 1}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8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Consistent assignment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Violates no constraint whose variables are all assigned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{x = 2} BC</a:t>
                      </a:r>
                      <a:r>
                        <a:rPr lang="en-US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Z SO FAR WE DONT KNOW THE VALUE OF Y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9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Solution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Complete and consistent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400"/>
                        <a:buFont typeface="IBM Plex Sans" panose="020B0503050203000203"/>
                        <a:buNone/>
                      </a:pPr>
                      <a:r>
                        <a:rPr lang="en-US" sz="14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{x = 1, y = 3}</a:t>
                      </a:r>
                      <a:endParaRPr sz="14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2" name="Google Shape;162;p13"/>
          <p:cNvSpPr/>
          <p:nvPr/>
        </p:nvSpPr>
        <p:spPr>
          <a:xfrm>
            <a:off x="812800" y="4554079"/>
            <a:ext cx="10883392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 CSP is </a:t>
            </a:r>
            <a:r>
              <a:rPr lang="en-US" sz="1400" b="1" i="0" u="none" strike="noStrike" cap="none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satisfiable</a:t>
            </a:r>
            <a:r>
              <a:rPr lang="en-US" sz="1400" b="0" i="0" u="none" strike="noStrike" cap="none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if it has at least one solution. Typical tasks: find one solution, find all, count them, prove there is none, or find the best one (COP, Chapter 5).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812800" y="6238280"/>
            <a:ext cx="25289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11287760" y="6238240"/>
            <a:ext cx="408940" cy="30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10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1.3 · EXAMPLE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812800" y="1089620"/>
            <a:ext cx="10883392" cy="47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 colouring as a CSP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812800" y="1816038"/>
            <a:ext cx="588645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 panose="020B0503050203000203"/>
              <a:buNone/>
            </a:pPr>
            <a:r>
              <a:rPr lang="en-US" sz="1600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Problem statement: color each region eigher red, green , blue in such a way that  no neighboring regions have the  same color.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812800" y="6238280"/>
            <a:ext cx="25289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11196307" y="6238280"/>
            <a:ext cx="2336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 descr="Screenshot 2026-09-29 2116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785" y="2996565"/>
            <a:ext cx="4712335" cy="27705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1.3 · COMPLEXITY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812800" y="1089620"/>
            <a:ext cx="10883392" cy="47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not simply try every assignment?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812800" y="1816038"/>
            <a:ext cx="10883392" cy="309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600"/>
              <a:buFont typeface="IBM Plex Sans" panose="020B0503050203000203"/>
              <a:buNone/>
            </a:pPr>
            <a:r>
              <a:rPr lang="en-US" sz="1600" b="0" i="0" u="none" strike="noStrike" cap="none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A CSP with n variables and domains of size d has </a:t>
            </a:r>
            <a:r>
              <a:rPr lang="en-US" sz="1600" b="1" i="0" u="none" strike="noStrike" cap="none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dⁿ</a:t>
            </a:r>
            <a:r>
              <a:rPr lang="en-US" sz="1600" b="0" i="0" u="none" strike="noStrike" cap="none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complete assignments.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815975" y="2383036"/>
            <a:ext cx="2520950" cy="1495557"/>
          </a:xfrm>
          <a:prstGeom prst="roundRect">
            <a:avLst>
              <a:gd name="adj" fmla="val 658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6"/>
          <p:cNvSpPr/>
          <p:nvPr/>
        </p:nvSpPr>
        <p:spPr>
          <a:xfrm>
            <a:off x="1045633" y="2612696"/>
            <a:ext cx="2123482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28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256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1045633" y="3186708"/>
            <a:ext cx="2123482" cy="25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300"/>
              <a:buFont typeface="IBM Plex Sans" panose="020B0503050203000203"/>
              <a:buNone/>
            </a:pPr>
            <a:r>
              <a:rPr lang="en-US" sz="13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4-queens: 4⁴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3495675" y="2383036"/>
            <a:ext cx="2520950" cy="1495557"/>
          </a:xfrm>
          <a:prstGeom prst="roundRect">
            <a:avLst>
              <a:gd name="adj" fmla="val 658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16"/>
          <p:cNvSpPr/>
          <p:nvPr/>
        </p:nvSpPr>
        <p:spPr>
          <a:xfrm>
            <a:off x="3725333" y="2612696"/>
            <a:ext cx="2123482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28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16.7 million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3725333" y="3186708"/>
            <a:ext cx="2123482" cy="25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300"/>
              <a:buFont typeface="IBM Plex Sans" panose="020B0503050203000203"/>
              <a:buNone/>
            </a:pPr>
            <a:r>
              <a:rPr lang="en-US" sz="13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8-queens: 8⁸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6175375" y="2383036"/>
            <a:ext cx="2520950" cy="1495557"/>
          </a:xfrm>
          <a:prstGeom prst="roundRect">
            <a:avLst>
              <a:gd name="adj" fmla="val 658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16"/>
          <p:cNvSpPr/>
          <p:nvPr/>
        </p:nvSpPr>
        <p:spPr>
          <a:xfrm>
            <a:off x="6405033" y="2612696"/>
            <a:ext cx="2123482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28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10⁸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6405033" y="3186708"/>
            <a:ext cx="2123482" cy="25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300"/>
              <a:buFont typeface="IBM Plex Sans" panose="020B0503050203000203"/>
              <a:buNone/>
            </a:pPr>
            <a:r>
              <a:rPr lang="en-US" sz="13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SEND+MORE: 10⁸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8855075" y="2383036"/>
            <a:ext cx="2520950" cy="1495557"/>
          </a:xfrm>
          <a:prstGeom prst="roundRect">
            <a:avLst>
              <a:gd name="adj" fmla="val 6581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16"/>
          <p:cNvSpPr/>
          <p:nvPr/>
        </p:nvSpPr>
        <p:spPr>
          <a:xfrm>
            <a:off x="9084734" y="2612696"/>
            <a:ext cx="2123482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14A17"/>
              </a:buClr>
              <a:buSzPts val="2800"/>
              <a:buFont typeface="Space Grotesk"/>
              <a:buNone/>
            </a:pPr>
            <a:r>
              <a:rPr lang="en-US" sz="2800" b="1" i="0" u="none" strike="noStrike" cap="none">
                <a:solidFill>
                  <a:srgbClr val="B14A17"/>
                </a:solidFill>
                <a:latin typeface="Space Grotesk"/>
                <a:ea typeface="Space Grotesk"/>
                <a:cs typeface="Space Grotesk"/>
                <a:sym typeface="Space Grotesk"/>
              </a:rPr>
              <a:t>≈ 10²⁹⁵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9084734" y="3186708"/>
            <a:ext cx="2123482" cy="487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300"/>
              <a:buFont typeface="IBM Plex Sans" panose="020B0503050203000203"/>
              <a:buNone/>
            </a:pPr>
            <a:r>
              <a:rPr lang="en-US" sz="13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200 courses in 30 slots: 30²⁰⁰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812800" y="4161172"/>
            <a:ext cx="10566400" cy="990600"/>
          </a:xfrm>
          <a:prstGeom prst="roundRect">
            <a:avLst>
              <a:gd name="adj" fmla="val 10256"/>
            </a:avLst>
          </a:prstGeom>
          <a:solidFill>
            <a:srgbClr val="15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16"/>
          <p:cNvSpPr/>
          <p:nvPr/>
        </p:nvSpPr>
        <p:spPr>
          <a:xfrm>
            <a:off x="1041400" y="4389772"/>
            <a:ext cx="10412476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2EA"/>
              </a:buClr>
              <a:buSzPts val="1500"/>
              <a:buFont typeface="IBM Plex Sans" panose="020B0503050203000203"/>
              <a:buNone/>
            </a:pPr>
            <a:r>
              <a:rPr lang="en-US" sz="1500" b="0" i="0" u="none" strike="noStrike" cap="none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Deciding whether a CSP has a solution is </a:t>
            </a:r>
            <a:r>
              <a:rPr lang="en-US" sz="1500" b="1" i="0" u="none" strike="noStrike" cap="none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NP-complete</a:t>
            </a:r>
            <a:r>
              <a:rPr lang="en-US" sz="1500" b="0" i="0" u="none" strike="noStrike" cap="none">
                <a:solidFill>
                  <a:srgbClr val="F5F2E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 in general. CP avoids most of the space through propagation and smart search (Chapters 3–4).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812800" y="6238280"/>
            <a:ext cx="25289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11196307" y="6238280"/>
            <a:ext cx="2336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13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812800" y="812800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1.3 · EXAMPLE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812800" y="10896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 colouring as a CSP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12800" y="1816038"/>
            <a:ext cx="58866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500"/>
              <a:buFont typeface="IBM Plex Sans" panose="020B0503050203000203"/>
              <a:buNone/>
            </a:pPr>
            <a:r>
              <a:rPr lang="en-US" sz="1600">
                <a:solidFill>
                  <a:srgbClr val="15202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Problem statement: color each region eigher red, green , blue in such a way that  no neighboring regions have the  same color.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84" name="Google Shape;184;p15"/>
          <p:cNvGraphicFramePr/>
          <p:nvPr/>
        </p:nvGraphicFramePr>
        <p:xfrm>
          <a:off x="812800" y="2501838"/>
          <a:ext cx="5715000" cy="3000000"/>
        </p:xfrm>
        <a:graphic>
          <a:graphicData uri="http://schemas.openxmlformats.org/drawingml/2006/table">
            <a:tbl>
              <a:tblPr>
                <a:noFill/>
                <a:tableStyleId>{58CB02BC-364E-40BD-ADF2-22D2783BB354}</a:tableStyleId>
              </a:tblPr>
              <a:tblGrid>
                <a:gridCol w="2857500"/>
                <a:gridCol w="2857500"/>
              </a:tblGrid>
              <a:tr h="42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 panose="020F0502020204030204"/>
                        <a:buNone/>
                      </a:pP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F2EA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5F2EA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Model</a:t>
                      </a: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1DB"/>
                    </a:solidFill>
                  </a:tcPr>
                </a:tc>
              </a:tr>
              <a:tr h="42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X</a:t>
                      </a:r>
                      <a:r>
                        <a:rPr lang="en-US" sz="13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-Variables</a:t>
                      </a: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WA, NT, SA, Q, NSW, V, T</a:t>
                      </a: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D</a:t>
                      </a:r>
                      <a:r>
                        <a:rPr lang="en-US" sz="13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- Domains</a:t>
                      </a: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{red, green, blue} for each variable</a:t>
                      </a: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83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C- Contsrains</a:t>
                      </a: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adjacent regions must have </a:t>
                      </a:r>
                      <a:r>
                        <a:rPr lang="en-US" sz="13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different</a:t>
                      </a:r>
                      <a:r>
                        <a:rPr lang="en-US" sz="1300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 color</a:t>
                      </a:r>
                      <a:endParaRPr sz="1300">
                        <a:solidFill>
                          <a:srgbClr val="15202B"/>
                        </a:solidFill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02B"/>
                        </a:buClr>
                        <a:buSzPts val="1300"/>
                        <a:buFont typeface="IBM Plex Sans" panose="020B0503050203000203"/>
                        <a:buNone/>
                      </a:pPr>
                      <a:r>
                        <a:rPr lang="en-US" sz="1300" u="none" strike="noStrike" cap="none">
                          <a:solidFill>
                            <a:srgbClr val="15202B"/>
                          </a:solidFill>
                          <a:latin typeface="IBM Plex Sans" panose="020B0503050203000203"/>
                          <a:ea typeface="IBM Plex Sans" panose="020B0503050203000203"/>
                          <a:cs typeface="IBM Plex Sans" panose="020B0503050203000203"/>
                          <a:sym typeface="IBM Plex Sans" panose="020B0503050203000203"/>
                        </a:rPr>
                        <a:t>WA≠NT, WA≠SA, NT≠SA, NT≠Q, SA≠Q, SA≠NSW, SA≠V, Q≠NSW, NSW≠V</a:t>
                      </a:r>
                      <a:endParaRPr sz="1300" u="none" strike="noStrike" cap="none">
                        <a:latin typeface="IBM Plex Sans" panose="020B0503050203000203"/>
                        <a:ea typeface="IBM Plex Sans" panose="020B0503050203000203"/>
                        <a:cs typeface="IBM Plex Sans" panose="020B0503050203000203"/>
                        <a:sym typeface="IBM Plex Sans" panose="020B0503050203000203"/>
                      </a:endParaRPr>
                    </a:p>
                  </a:txBody>
                  <a:tcPr marL="114300" marR="114300" marT="88900" marB="88900">
                    <a:lnL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4C4C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5"/>
          <p:cNvSpPr/>
          <p:nvPr/>
        </p:nvSpPr>
        <p:spPr>
          <a:xfrm>
            <a:off x="812800" y="5514744"/>
            <a:ext cx="58866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300"/>
              <a:buFont typeface="IBM Plex Sans" panose="020B0503050203000203"/>
              <a:buNone/>
            </a:pPr>
            <a:r>
              <a:rPr lang="en-US" sz="13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One solution: WA = red, NT = green, SA = blue, Q = red, NSW = green, V = red, T = green.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812800" y="6238280"/>
            <a:ext cx="2529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11196307" y="6238280"/>
            <a:ext cx="233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12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 descr="color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4520" y="2059940"/>
            <a:ext cx="4692650" cy="3368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1.4 · APPLICATIONS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812800" y="1089620"/>
            <a:ext cx="10883392" cy="47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3200"/>
              <a:buFont typeface="Space Grotesk"/>
              <a:buNone/>
            </a:pPr>
            <a:r>
              <a:rPr lang="en-US" sz="32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Where constraint programming is used</a:t>
            </a:r>
            <a:endParaRPr sz="3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815975" y="1819213"/>
            <a:ext cx="5175250" cy="1611114"/>
          </a:xfrm>
          <a:prstGeom prst="roundRect">
            <a:avLst>
              <a:gd name="adj" fmla="val 6109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17"/>
          <p:cNvSpPr/>
          <p:nvPr/>
        </p:nvSpPr>
        <p:spPr>
          <a:xfrm>
            <a:off x="1045633" y="2048867"/>
            <a:ext cx="4857411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INDUSTRY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1045633" y="2351088"/>
            <a:ext cx="4857411" cy="2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Planning &amp; scheduling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1045633" y="2702855"/>
            <a:ext cx="4857411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Jobs on machines, project tasks, maintenance plans. Variables: start times; constraints: precedence, capacity.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6200775" y="1819213"/>
            <a:ext cx="5175250" cy="1611114"/>
          </a:xfrm>
          <a:prstGeom prst="roundRect">
            <a:avLst>
              <a:gd name="adj" fmla="val 6109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17"/>
          <p:cNvSpPr/>
          <p:nvPr/>
        </p:nvSpPr>
        <p:spPr>
          <a:xfrm>
            <a:off x="6430433" y="2048867"/>
            <a:ext cx="4857411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EDUCATION · HEALTH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6430433" y="2351088"/>
            <a:ext cx="4857411" cy="2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Timetabling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6430433" y="2702855"/>
            <a:ext cx="4857411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University courses and exams, nurse rostering. Variables: slots and rooms; constraints: no clashes, availability.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815975" y="3614477"/>
            <a:ext cx="5175250" cy="1611114"/>
          </a:xfrm>
          <a:prstGeom prst="roundRect">
            <a:avLst>
              <a:gd name="adj" fmla="val 6109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0" name="Google Shape;230;p17"/>
          <p:cNvSpPr/>
          <p:nvPr/>
        </p:nvSpPr>
        <p:spPr>
          <a:xfrm>
            <a:off x="1045633" y="3844131"/>
            <a:ext cx="4857411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PRODUCTS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1045633" y="4146352"/>
            <a:ext cx="4857411" cy="2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Configuration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1045633" y="4498119"/>
            <a:ext cx="4857411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Computers, cars, product lines. Variables: components; constraints: compatibility rules.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6200775" y="3614477"/>
            <a:ext cx="5175250" cy="1611114"/>
          </a:xfrm>
          <a:prstGeom prst="roundRect">
            <a:avLst>
              <a:gd name="adj" fmla="val 6109"/>
            </a:avLst>
          </a:prstGeom>
          <a:solidFill>
            <a:srgbClr val="FFFDF8"/>
          </a:solidFill>
          <a:ln w="9525" cap="flat" cmpd="sng">
            <a:solidFill>
              <a:srgbClr val="E2DC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17"/>
          <p:cNvSpPr/>
          <p:nvPr/>
        </p:nvSpPr>
        <p:spPr>
          <a:xfrm>
            <a:off x="6430433" y="3844131"/>
            <a:ext cx="4857411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6A"/>
              </a:buClr>
              <a:buSzPts val="1200"/>
              <a:buFont typeface="IBM Plex Sans" panose="020B0503050203000203"/>
              <a:buNone/>
            </a:pPr>
            <a:r>
              <a:rPr lang="en-US" sz="1200" b="1" i="0" u="none" strike="noStrike" cap="none">
                <a:solidFill>
                  <a:srgbClr val="1F6F6A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NETWORKS · CLOUD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6430433" y="4146352"/>
            <a:ext cx="4857411" cy="288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02B"/>
              </a:buClr>
              <a:buSzPts val="1800"/>
              <a:buFont typeface="Space Grotesk"/>
              <a:buNone/>
            </a:pPr>
            <a:r>
              <a:rPr lang="en-US" sz="1800" b="1" i="0" u="none" strike="noStrike" cap="none">
                <a:solidFill>
                  <a:srgbClr val="15202B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Resource allocation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6430433" y="4498119"/>
            <a:ext cx="4857411" cy="52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B333B"/>
              </a:buClr>
              <a:buSzPts val="1400"/>
              <a:buFont typeface="IBM Plex Sans" panose="020B0503050203000203"/>
              <a:buNone/>
            </a:pPr>
            <a:r>
              <a:rPr lang="en-US" sz="1400" b="0" i="0" u="none" strike="noStrike" cap="none">
                <a:solidFill>
                  <a:srgbClr val="2B333B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Frequency assignment, virtual machine placement, vehicle routing. Constraints: capacity, interference.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812800" y="6238280"/>
            <a:ext cx="25289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11196307" y="6238280"/>
            <a:ext cx="233693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14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812800" y="6238280"/>
            <a:ext cx="25290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Constraint Programming · Chapter 1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11196307" y="6238280"/>
            <a:ext cx="233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670"/>
              </a:buClr>
              <a:buSzPts val="1200"/>
              <a:buFont typeface="IBM Plex Sans" panose="020B0503050203000203"/>
              <a:buNone/>
            </a:pPr>
            <a:r>
              <a:rPr lang="en-US" sz="1200" b="0" i="0" u="none" strike="noStrike" cap="none">
                <a:solidFill>
                  <a:srgbClr val="5D6670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rPr>
              <a:t>15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2668825" y="2158400"/>
            <a:ext cx="7107600" cy="18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/>
              <a:t>Thank you!!!</a:t>
            </a:r>
            <a:endParaRPr sz="4900" b="1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/>
              <a:t>في أمان الله</a:t>
            </a:r>
            <a:endParaRPr lang="en-US" sz="4900" b="1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lang="ar-DZ" sz="49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355"/>
  <p:tag name="TABLE_ENDDRAG_RECT" val="49*139*885*355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6160</Words>
  <Application>WPS Presentation</Application>
  <PresentationFormat/>
  <Paragraphs>374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IBM Plex Sans</vt:lpstr>
      <vt:lpstr>Space Grotesk</vt:lpstr>
      <vt:lpstr>IBM Plex Mono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samia haboussi</cp:lastModifiedBy>
  <cp:revision>5</cp:revision>
  <dcterms:created xsi:type="dcterms:W3CDTF">2026-09-29T20:38:00Z</dcterms:created>
  <dcterms:modified xsi:type="dcterms:W3CDTF">2026-10-24T20:21:05Z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B03F6A4BA89F43D0BFE48F20D3917AC4_12</vt:lpwstr>
  </property>
</Properties>
</file>