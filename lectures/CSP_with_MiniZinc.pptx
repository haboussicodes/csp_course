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15:58 to the end. With onlythe syntax seen so far (variables, constraints, solve, output), students can already solve the exercises from the lecture. Suggested timing: 15 minutes for exercise 1, 25 for exercise 2, 15 for exercise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19:36 to the end. After the two models of TWO + TWO = FOUR, the video asks for the second cryptarithm seen in the lecture: SEND + MORE = MONEY. Students can reuse either modelling strategy. Expected answer: 9567 + 1085 = 10652, and it is the only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 idea to remember: in constraint programming you describe what a solution looks like (variables, domains, constraints) and the solver searches for it. Every MiniZinc model has the same shape: var lines, constraint lines, one solve item and an optional output. Share the video link so students can rewatch any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4267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833827"/>
            <a:ext cx="10566400" cy="42113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4267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833827"/>
            <a:ext cx="10566400" cy="42113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01932"/>
            <a:ext cx="591261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995E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CONSTRAINT PROGRAMMING · LAB SESSION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18453"/>
            <a:ext cx="5912612" cy="19454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kern="0" spc="-100" dirty="0">
                <a:solidFill>
                  <a:srgbClr val="F4F6F9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Solving constraint problems with MiniZinc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4241734"/>
            <a:ext cx="5912612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9B6CC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Model a problem, let the solver </a:t>
            </a:r>
            <a:r>
              <a:rPr lang="en-US" sz="1600" dirty="0">
                <a:solidFill>
                  <a:srgbClr val="A9B6CC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find the answer.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165975" y="21177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1633" y="21187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029575" y="21177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5233" y="21187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8893175" y="21177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8833" y="21187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9756775" y="21177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32433" y="21187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591800" y="2114550"/>
            <a:ext cx="812800" cy="787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299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7165975" y="29813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1633" y="29823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029575" y="29813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5233" y="29823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8893175" y="29813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8833" y="29823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9756775" y="29813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2433" y="29823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7162800" y="3841750"/>
            <a:ext cx="4216400" cy="38100"/>
          </a:xfrm>
          <a:prstGeom prst="roundRect">
            <a:avLst>
              <a:gd name="adj" fmla="val 50000"/>
            </a:avLst>
          </a:prstGeom>
          <a:solidFill>
            <a:srgbClr val="F2995E"/>
          </a:solidFill>
        </p:spPr>
      </p:sp>
      <p:sp>
        <p:nvSpPr>
          <p:cNvPr id="24" name="Shape 22"/>
          <p:cNvSpPr/>
          <p:nvPr/>
        </p:nvSpPr>
        <p:spPr>
          <a:xfrm>
            <a:off x="7165975" y="39846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41633" y="39856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8029575" y="39846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5233" y="39856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8893175" y="39846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8833" y="39856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9756775" y="39846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32433" y="39856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10620375" y="3984625"/>
            <a:ext cx="755650" cy="755650"/>
          </a:xfrm>
          <a:prstGeom prst="roundRect">
            <a:avLst>
              <a:gd name="adj" fmla="val 13025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96033" y="3985683"/>
            <a:ext cx="804333" cy="7789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015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INTRODUCTION</a:t>
            </a:r>
            <a:endParaRPr lang="en-US" sz="1200" b="1" kern="0" spc="150" dirty="0">
              <a:solidFill>
                <a:srgbClr val="A84614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By the end of this session, you can…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786203"/>
            <a:ext cx="5175250" cy="1119717"/>
          </a:xfrm>
          <a:prstGeom prst="roundRect">
            <a:avLst>
              <a:gd name="adj" fmla="val 11059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1033" y="204126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3203A"/>
          </a:solidFill>
        </p:spPr>
      </p:sp>
      <p:pic>
        <p:nvPicPr>
          <p:cNvPr id="6" name="Image 0" descr="Lightbulb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98033" y="216826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83833" y="2054622"/>
            <a:ext cx="3967903" cy="6082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Explain what MiniZinc is and why we use it</a:t>
            </a:r>
            <a:endParaRPr lang="en-US" sz="1700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00775" y="1786203"/>
            <a:ext cx="5175250" cy="1119717"/>
          </a:xfrm>
          <a:prstGeom prst="roundRect">
            <a:avLst>
              <a:gd name="adj" fmla="val 11059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55833" y="204126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3203A"/>
          </a:solidFill>
        </p:spPr>
      </p:sp>
      <p:pic>
        <p:nvPicPr>
          <p:cNvPr id="10" name="Image 1" descr="Book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2834" y="2168261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8634" y="2054622"/>
            <a:ext cx="3967903" cy="6082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Name the four parts of a constraint satisfaction problem</a:t>
            </a:r>
            <a:endParaRPr lang="en-US" sz="1700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15975" y="3115469"/>
            <a:ext cx="5175250" cy="1119717"/>
          </a:xfrm>
          <a:prstGeom prst="roundRect">
            <a:avLst>
              <a:gd name="adj" fmla="val 11059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71033" y="3370528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3203A"/>
          </a:solidFill>
        </p:spPr>
      </p:sp>
      <p:pic>
        <p:nvPicPr>
          <p:cNvPr id="14" name="Image 2" descr="Cod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98033" y="3497528"/>
            <a:ext cx="355600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83833" y="3383889"/>
            <a:ext cx="3967903" cy="6082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Write variables, constraints, a solve item and an output</a:t>
            </a:r>
            <a:endParaRPr lang="en-US" sz="1700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200775" y="3115469"/>
            <a:ext cx="5175250" cy="1119717"/>
          </a:xfrm>
          <a:prstGeom prst="roundRect">
            <a:avLst>
              <a:gd name="adj" fmla="val 11059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55833" y="3370528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3203A"/>
          </a:solidFill>
        </p:spPr>
      </p:sp>
      <p:pic>
        <p:nvPicPr>
          <p:cNvPr id="18" name="Image 3" descr="CheckCircle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82834" y="3497528"/>
            <a:ext cx="355600" cy="355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8634" y="3383889"/>
            <a:ext cx="3967903" cy="6082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Solve three classic puzzles: a map and two letter sums</a:t>
            </a:r>
            <a:endParaRPr lang="en-US" sz="1700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12800" y="4492361"/>
            <a:ext cx="10883392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We follow the video chapter by chapter, then practise </a:t>
            </a: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on three exercises.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INTRODUCTION</a:t>
            </a:r>
            <a:endParaRPr lang="en-US" sz="1200" b="1" kern="0" spc="150" dirty="0">
              <a:solidFill>
                <a:srgbClr val="A84614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What is MiniZinc?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783028"/>
            <a:ext cx="10883392" cy="787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MiniZinc is a free, open-source </a:t>
            </a:r>
            <a:r>
              <a:rPr lang="en-US" sz="2400" dirty="0">
                <a:solidFill>
                  <a:srgbClr val="A84614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modelling language</a:t>
            </a:r>
            <a:r>
              <a:rPr lang="en-US" sz="24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. You describe the problem; a solver finds the solution.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5975" y="2802203"/>
            <a:ext cx="3380317" cy="2027634"/>
          </a:xfrm>
          <a:prstGeom prst="roundRect">
            <a:avLst>
              <a:gd name="adj" fmla="val 6107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033" y="3057261"/>
            <a:ext cx="295630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Not a solver</a:t>
            </a:r>
            <a:endParaRPr lang="en-US" sz="2000" b="1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1033" y="3450961"/>
            <a:ext cx="2956306" cy="7987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MiniZinc only describes the problem. Separate programs, the solvers, do the search.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05842" y="2802203"/>
            <a:ext cx="3380317" cy="2027634"/>
          </a:xfrm>
          <a:prstGeom prst="roundRect">
            <a:avLst>
              <a:gd name="adj" fmla="val 6107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900" y="3057261"/>
            <a:ext cx="295630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Solver-independent</a:t>
            </a:r>
            <a:endParaRPr lang="en-US" sz="2000" b="1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0900" y="3450961"/>
            <a:ext cx="2956306" cy="7987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Learn one language, then switch solver without rewriting your model.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95709" y="2802203"/>
            <a:ext cx="3380317" cy="2027634"/>
          </a:xfrm>
          <a:prstGeom prst="roundRect">
            <a:avLst>
              <a:gd name="adj" fmla="val 6107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0767" y="3057261"/>
            <a:ext cx="295630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Easy to install</a:t>
            </a:r>
            <a:endParaRPr lang="en-US" sz="2000" b="1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50767" y="3450961"/>
            <a:ext cx="2956306" cy="7987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Windows, Linux and macOS. The IDE download already includes solvers.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50767" y="4325872"/>
            <a:ext cx="2956306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952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minizinc.org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INTRODUCTION</a:t>
            </a:r>
            <a:endParaRPr lang="en-US" sz="1200" b="1" kern="0" spc="150" dirty="0">
              <a:solidFill>
                <a:srgbClr val="A84614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One model, many solvers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9150" y="3059378"/>
            <a:ext cx="1892300" cy="749300"/>
          </a:xfrm>
          <a:prstGeom prst="roundRect">
            <a:avLst>
              <a:gd name="adj" fmla="val 12712"/>
            </a:avLst>
          </a:prstGeom>
          <a:solidFill>
            <a:srgbClr val="FBFCFD"/>
          </a:solidFill>
          <a:ln w="12700">
            <a:solidFill>
              <a:srgbClr val="132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2838" y="3181285"/>
            <a:ext cx="1304925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Your model</a:t>
            </a:r>
            <a:endParaRPr lang="en-US" sz="1500" b="1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71508" y="3473385"/>
            <a:ext cx="987584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.mzn file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2650" y="3059378"/>
            <a:ext cx="1892300" cy="749300"/>
          </a:xfrm>
          <a:prstGeom prst="roundRect">
            <a:avLst>
              <a:gd name="adj" fmla="val 12712"/>
            </a:avLst>
          </a:prstGeom>
          <a:solidFill>
            <a:srgbClr val="13203A"/>
          </a:solidFill>
          <a:ln w="12700">
            <a:solidFill>
              <a:srgbClr val="132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73500" y="3181285"/>
            <a:ext cx="9906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MiniZinc</a:t>
            </a:r>
            <a:endParaRPr lang="en-US" sz="1500" b="1" dirty="0">
              <a:solidFill>
                <a:srgbClr val="F4F6F9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67100" y="3473385"/>
            <a:ext cx="1803334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C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translates the model</a:t>
            </a:r>
            <a:endParaRPr lang="en-US" sz="1200" dirty="0">
              <a:solidFill>
                <a:srgbClr val="A9B6CC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6650" y="1916378"/>
            <a:ext cx="2273300" cy="749300"/>
          </a:xfrm>
          <a:prstGeom prst="roundRect">
            <a:avLst>
              <a:gd name="adj" fmla="val 12712"/>
            </a:avLst>
          </a:prstGeom>
          <a:solidFill>
            <a:srgbClr val="E7EDF4"/>
          </a:solidFill>
          <a:ln w="12700">
            <a:solidFill>
              <a:srgbClr val="13203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Gecode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6650" y="3059378"/>
            <a:ext cx="2273300" cy="749300"/>
          </a:xfrm>
          <a:prstGeom prst="roundRect">
            <a:avLst>
              <a:gd name="adj" fmla="val 12712"/>
            </a:avLst>
          </a:prstGeom>
          <a:solidFill>
            <a:srgbClr val="E7EDF4"/>
          </a:solidFill>
          <a:ln w="12700">
            <a:solidFill>
              <a:srgbClr val="13203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Chuffed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6650" y="4202378"/>
            <a:ext cx="2273300" cy="749300"/>
          </a:xfrm>
          <a:prstGeom prst="roundRect">
            <a:avLst>
              <a:gd name="adj" fmla="val 12712"/>
            </a:avLst>
          </a:prstGeom>
          <a:solidFill>
            <a:srgbClr val="E7EDF4"/>
          </a:solidFill>
          <a:ln w="12700">
            <a:solidFill>
              <a:srgbClr val="13203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OR-Tools CP-SAT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483725" y="3062553"/>
            <a:ext cx="1885950" cy="742950"/>
          </a:xfrm>
          <a:prstGeom prst="roundRect">
            <a:avLst>
              <a:gd name="adj" fmla="val 12393"/>
            </a:avLst>
          </a:prstGeom>
          <a:solidFill>
            <a:srgbClr val="FBFCFD"/>
          </a:solidFill>
          <a:ln w="19050">
            <a:solidFill>
              <a:srgbClr val="A846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4736" y="3181285"/>
            <a:ext cx="943928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Solution</a:t>
            </a:r>
            <a:endParaRPr lang="en-US" sz="1500" b="1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23140" y="3473385"/>
            <a:ext cx="1207056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a=2 b=1 c=3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0" descr="connector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67000" y="3383228"/>
            <a:ext cx="800100" cy="101600"/>
          </a:xfrm>
          <a:prstGeom prst="rect">
            <a:avLst/>
          </a:prstGeom>
        </p:spPr>
      </p:pic>
      <p:pic>
        <p:nvPicPr>
          <p:cNvPr id="17" name="Image 1" descr="connector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70500" y="3383228"/>
            <a:ext cx="546100" cy="101600"/>
          </a:xfrm>
          <a:prstGeom prst="rect">
            <a:avLst/>
          </a:prstGeom>
        </p:spPr>
      </p:pic>
      <p:pic>
        <p:nvPicPr>
          <p:cNvPr id="18" name="Image 2" descr="connector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15000" y="2240228"/>
            <a:ext cx="101600" cy="2387600"/>
          </a:xfrm>
          <a:prstGeom prst="rect">
            <a:avLst/>
          </a:prstGeom>
        </p:spPr>
      </p:pic>
      <p:pic>
        <p:nvPicPr>
          <p:cNvPr id="19" name="Image 3" descr="connector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15000" y="2240228"/>
            <a:ext cx="546100" cy="101600"/>
          </a:xfrm>
          <a:prstGeom prst="rect">
            <a:avLst/>
          </a:prstGeom>
        </p:spPr>
      </p:pic>
      <p:pic>
        <p:nvPicPr>
          <p:cNvPr id="20" name="Image 4" descr="connector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15000" y="3383228"/>
            <a:ext cx="546100" cy="101600"/>
          </a:xfrm>
          <a:prstGeom prst="rect">
            <a:avLst/>
          </a:prstGeom>
        </p:spPr>
      </p:pic>
      <p:pic>
        <p:nvPicPr>
          <p:cNvPr id="21" name="Image 5" descr="connector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15000" y="4526228"/>
            <a:ext cx="546100" cy="101600"/>
          </a:xfrm>
          <a:prstGeom prst="rect">
            <a:avLst/>
          </a:prstGeom>
        </p:spPr>
      </p:pic>
      <p:pic>
        <p:nvPicPr>
          <p:cNvPr id="22" name="Image 6" descr="connector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45500" y="2240228"/>
            <a:ext cx="590550" cy="101600"/>
          </a:xfrm>
          <a:prstGeom prst="rect">
            <a:avLst/>
          </a:prstGeom>
        </p:spPr>
      </p:pic>
      <p:pic>
        <p:nvPicPr>
          <p:cNvPr id="23" name="Image 7" descr="connector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45500" y="3383228"/>
            <a:ext cx="590550" cy="101600"/>
          </a:xfrm>
          <a:prstGeom prst="rect">
            <a:avLst/>
          </a:prstGeom>
        </p:spPr>
      </p:pic>
      <p:pic>
        <p:nvPicPr>
          <p:cNvPr id="24" name="Image 8" descr="connector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45500" y="4526228"/>
            <a:ext cx="590550" cy="101600"/>
          </a:xfrm>
          <a:prstGeom prst="rect">
            <a:avLst/>
          </a:prstGeom>
        </p:spPr>
      </p:pic>
      <p:pic>
        <p:nvPicPr>
          <p:cNvPr id="25" name="Image 9" descr="connector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934450" y="2240228"/>
            <a:ext cx="101600" cy="2387600"/>
          </a:xfrm>
          <a:prstGeom prst="rect">
            <a:avLst/>
          </a:prstGeom>
        </p:spPr>
      </p:pic>
      <p:pic>
        <p:nvPicPr>
          <p:cNvPr id="26" name="Image 10" descr="connector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934450" y="3383228"/>
            <a:ext cx="590550" cy="10160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812800" y="5339028"/>
            <a:ext cx="10883392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Pick a different solver in the IDE: the model stays exactly the same.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BUILDING BLOCKS</a:t>
            </a:r>
            <a:endParaRPr lang="en-US" sz="1200" b="1" kern="0" spc="150" dirty="0">
              <a:solidFill>
                <a:srgbClr val="A84614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Reminder: a CSP has four parts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732229"/>
            <a:ext cx="10883392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A constraint satisfaction problem, contains: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5975" y="2187575"/>
            <a:ext cx="3147695" cy="1975485"/>
          </a:xfrm>
          <a:prstGeom prst="roundRect">
            <a:avLst>
              <a:gd name="adj" fmla="val 626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633" y="2417167"/>
            <a:ext cx="2084239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Variables</a:t>
            </a:r>
            <a:endParaRPr lang="en-US" sz="2000" b="1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5633" y="2785467"/>
            <a:ext cx="2084239" cy="77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The unknowns the solver must give a value to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5633" y="3684588"/>
            <a:ext cx="2084239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952A3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a, b, c</a:t>
            </a:r>
            <a:endParaRPr lang="en-US" sz="1400" b="1" dirty="0">
              <a:solidFill>
                <a:srgbClr val="2952A3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28465" y="2184400"/>
            <a:ext cx="3114675" cy="1975485"/>
          </a:xfrm>
          <a:prstGeom prst="roundRect">
            <a:avLst>
              <a:gd name="adj" fmla="val 626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6678" y="2466062"/>
            <a:ext cx="2084239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Domains</a:t>
            </a:r>
            <a:endParaRPr lang="en-US" sz="2000" b="1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15273" y="2821027"/>
            <a:ext cx="2084239" cy="772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The values each variable may take: a range or a set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26678" y="3596323"/>
            <a:ext cx="2084239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952A3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0..9 or {1, 3, 5}</a:t>
            </a:r>
            <a:endParaRPr lang="en-US" sz="1400" b="1" dirty="0">
              <a:solidFill>
                <a:srgbClr val="2952A3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08570" y="2184400"/>
            <a:ext cx="3295650" cy="1975485"/>
          </a:xfrm>
          <a:prstGeom prst="roundRect">
            <a:avLst>
              <a:gd name="adj" fmla="val 626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4914" y="2466062"/>
            <a:ext cx="2084239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Constraints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84914" y="2972792"/>
            <a:ext cx="2084239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The rule each link must respect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84914" y="3642678"/>
            <a:ext cx="2084239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952A3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a + b = c</a:t>
            </a:r>
            <a:endParaRPr lang="en-US" sz="1400" b="1" dirty="0">
              <a:solidFill>
                <a:srgbClr val="2952A3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12800" y="4328795"/>
            <a:ext cx="6504940" cy="60325"/>
          </a:xfrm>
          <a:prstGeom prst="line">
            <a:avLst/>
          </a:prstGeom>
          <a:noFill/>
          <a:ln w="38100">
            <a:solidFill>
              <a:srgbClr val="A846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600" y="4560029"/>
            <a:ext cx="5232400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Variables and domains: written as </a:t>
            </a:r>
            <a:r>
              <a:rPr lang="en-US" sz="1400" b="1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var</a:t>
            </a: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 lines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3600" y="4859734"/>
            <a:ext cx="5232400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 0..9: a;</a:t>
            </a:r>
            <a:endParaRPr lang="en-US" sz="16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08570" y="4387850"/>
            <a:ext cx="4083685" cy="635"/>
          </a:xfrm>
          <a:prstGeom prst="line">
            <a:avLst/>
          </a:prstGeom>
          <a:noFill/>
          <a:ln w="38100">
            <a:solidFill>
              <a:srgbClr val="A846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8400" y="4560029"/>
            <a:ext cx="5232400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Relations and constraints: written as </a:t>
            </a:r>
            <a:r>
              <a:rPr lang="en-US" sz="1400" b="1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constraint</a:t>
            </a: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 lines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48400" y="4859734"/>
            <a:ext cx="5232400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constraint a + b = c;</a:t>
            </a:r>
            <a:endParaRPr lang="en-US" sz="16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BUILDING BLOCKS</a:t>
            </a:r>
            <a:endParaRPr lang="en-US" sz="1200" b="1" kern="0" spc="150" dirty="0">
              <a:solidFill>
                <a:srgbClr val="A84614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Declaring a variable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735404"/>
            <a:ext cx="10560050" cy="1226344"/>
          </a:xfrm>
          <a:prstGeom prst="roundRect">
            <a:avLst>
              <a:gd name="adj" fmla="val 10097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1833" y="1990461"/>
            <a:ext cx="76811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A84614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</a:t>
            </a:r>
            <a:endParaRPr lang="en-US" sz="2800" b="1" dirty="0">
              <a:solidFill>
                <a:srgbClr val="A84614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5292" y="2493367"/>
            <a:ext cx="753110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keyword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94277" y="1990461"/>
            <a:ext cx="1024176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1..9</a:t>
            </a:r>
            <a:endParaRPr lang="en-US" sz="28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47685" y="2493367"/>
            <a:ext cx="1317360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domain or type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50803" y="1990461"/>
            <a:ext cx="264186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18322" y="1990461"/>
            <a:ext cx="264186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G</a:t>
            </a:r>
            <a:endParaRPr lang="en-US" sz="28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00305" y="2493367"/>
            <a:ext cx="500221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name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8387" y="1990461"/>
            <a:ext cx="264186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A8461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147741" y="2493367"/>
            <a:ext cx="1285478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ends every line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55469" y="2010767"/>
            <a:ext cx="0" cy="67561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6619" y="2061567"/>
            <a:ext cx="5256655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Optional: give the value directly with </a:t>
            </a:r>
            <a:r>
              <a:rPr lang="en-US" sz="1400" b="1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= expression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66619" y="2386676"/>
            <a:ext cx="5256655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952A3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 int: total = a + b;</a:t>
            </a:r>
            <a:endParaRPr lang="en-US" sz="1400" b="1" dirty="0">
              <a:solidFill>
                <a:srgbClr val="2952A3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2800" y="3707608"/>
            <a:ext cx="10566400" cy="0"/>
          </a:xfrm>
          <a:prstGeom prst="line">
            <a:avLst/>
          </a:prstGeom>
          <a:noFill/>
          <a:ln w="635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295123"/>
            <a:ext cx="2747010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 1..9: G;</a:t>
            </a:r>
            <a:endParaRPr lang="en-US" sz="16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33800" y="3303984"/>
            <a:ext cx="7874762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G is a whole number from 1 to 9, both included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2800" y="4250267"/>
            <a:ext cx="10566400" cy="0"/>
          </a:xfrm>
          <a:prstGeom prst="line">
            <a:avLst/>
          </a:prstGeom>
          <a:noFill/>
          <a:ln w="635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3837781"/>
            <a:ext cx="2747010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 float: L;</a:t>
            </a:r>
            <a:endParaRPr lang="en-US" sz="16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733800" y="3846646"/>
            <a:ext cx="7874762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L is a decimal number, with no bounds given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2800" y="4792928"/>
            <a:ext cx="10566400" cy="0"/>
          </a:xfrm>
          <a:prstGeom prst="line">
            <a:avLst/>
          </a:prstGeom>
          <a:noFill/>
          <a:ln w="6350">
            <a:solidFill>
              <a:srgbClr val="DC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800" y="4380443"/>
            <a:ext cx="2747010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 bool: ok;</a:t>
            </a:r>
            <a:endParaRPr lang="en-US" sz="16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733800" y="4389307"/>
            <a:ext cx="7874762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ok is either true or false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12800" y="4999304"/>
            <a:ext cx="10883392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Three types only: </a:t>
            </a:r>
            <a:r>
              <a:rPr lang="en-US" sz="1400" b="1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int</a:t>
            </a: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, </a:t>
            </a:r>
            <a:r>
              <a:rPr lang="en-US" sz="1400" b="1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float</a:t>
            </a: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 and </a:t>
            </a:r>
            <a:r>
              <a:rPr lang="en-US" sz="1400" b="1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bool</a:t>
            </a: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. There are no string variables.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Parameters: values that never change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786204"/>
            <a:ext cx="5175250" cy="2139487"/>
          </a:xfrm>
          <a:prstGeom prst="roundRect">
            <a:avLst>
              <a:gd name="adj" fmla="val 578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041261"/>
            <a:ext cx="4805087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952A3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DECISION VARIABLE</a:t>
            </a:r>
            <a:endParaRPr lang="en-US" sz="1200" b="1" kern="0" spc="150" dirty="0">
              <a:solidFill>
                <a:srgbClr val="2952A3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71033" y="2356182"/>
            <a:ext cx="4805087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 1..9: G;</a:t>
            </a:r>
            <a:endParaRPr lang="en-US" sz="20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153" y="2813382"/>
            <a:ext cx="4726347" cy="882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Starts with var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The solver finds its value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Used for the unknowns of the problem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00775" y="1786204"/>
            <a:ext cx="5175250" cy="2139487"/>
          </a:xfrm>
          <a:prstGeom prst="roundRect">
            <a:avLst>
              <a:gd name="adj" fmla="val 578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833" y="2041261"/>
            <a:ext cx="4805087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952A3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PARAMETER</a:t>
            </a:r>
            <a:endParaRPr lang="en-US" sz="1200" b="1" kern="0" spc="150" dirty="0">
              <a:solidFill>
                <a:srgbClr val="2952A3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55833" y="2356182"/>
            <a:ext cx="4805087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int: n = 4;</a:t>
            </a:r>
            <a:endParaRPr lang="en-US" sz="20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26953" y="2813382"/>
            <a:ext cx="4726347" cy="882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No var keyword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You give its value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828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Used for constants, like a size or a capacity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2800" y="4182864"/>
            <a:ext cx="4506053" cy="921941"/>
          </a:xfrm>
          <a:prstGeom prst="roundRect">
            <a:avLst>
              <a:gd name="adj" fmla="val 13775"/>
            </a:avLst>
          </a:prstGeom>
          <a:solidFill>
            <a:srgbClr val="13203A"/>
          </a:solidFill>
        </p:spPr>
        <p:txBody>
          <a:bodyPr wrap="square" lIns="242203" tIns="166003" rIns="123785" bIns="140603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B0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n = 4;       </a:t>
            </a:r>
            <a:r>
              <a:rPr lang="en-US" sz="1400" dirty="0">
                <a:solidFill>
                  <a:srgbClr val="8D9BB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 a parameter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B0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var</a:t>
            </a: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1..n: x;      </a:t>
            </a:r>
            <a:r>
              <a:rPr lang="en-US" sz="1400" dirty="0">
                <a:solidFill>
                  <a:srgbClr val="8D9BB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 its domain uses 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653" y="4377134"/>
            <a:ext cx="592821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A parameter can be used anywhere a fixed value is expected, even inside a domain.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Writing a constraint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732229"/>
            <a:ext cx="10566400" cy="685800"/>
          </a:xfrm>
          <a:prstGeom prst="roundRect">
            <a:avLst>
              <a:gd name="adj" fmla="val 18519"/>
            </a:avLst>
          </a:prstGeom>
          <a:solidFill>
            <a:srgbClr val="13203A"/>
          </a:solidFill>
        </p:spPr>
        <p:txBody>
          <a:bodyPr wrap="square" lIns="242203" tIns="140603" rIns="0" bIns="1152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constraint</a:t>
            </a:r>
            <a:r>
              <a:rPr lang="en-US" sz="2000" b="1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9ED9B0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&lt;Boolean expression&gt;</a:t>
            </a:r>
            <a:r>
              <a:rPr lang="en-US" sz="2000" b="1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5975" y="2624404"/>
            <a:ext cx="5175250" cy="967317"/>
          </a:xfrm>
          <a:prstGeom prst="roundRect">
            <a:avLst>
              <a:gd name="adj" fmla="val 12801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0233" y="2828661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13203A"/>
          </a:solidFill>
        </p:spPr>
      </p:sp>
      <p:pic>
        <p:nvPicPr>
          <p:cNvPr id="7" name="Image 0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4533" y="2942961"/>
            <a:ext cx="330200" cy="330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6833" y="2841361"/>
            <a:ext cx="4151037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Expression is </a:t>
            </a: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true</a:t>
            </a:r>
            <a:r>
              <a:rPr lang="en-US" sz="15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: the constraint is satisfied.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00775" y="2624404"/>
            <a:ext cx="5175250" cy="967317"/>
          </a:xfrm>
          <a:prstGeom prst="roundRect">
            <a:avLst>
              <a:gd name="adj" fmla="val 12801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5033" y="2828661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13203A"/>
          </a:solidFill>
        </p:spPr>
      </p:sp>
      <p:pic>
        <p:nvPicPr>
          <p:cNvPr id="11" name="Image 1" descr="Warni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19334" y="2942961"/>
            <a:ext cx="330200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41634" y="2841361"/>
            <a:ext cx="4151037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Expression is </a:t>
            </a: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false</a:t>
            </a:r>
            <a:r>
              <a:rPr lang="en-US" sz="15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: these values are rejected, the solver tries others.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15975" y="3801269"/>
            <a:ext cx="1416050" cy="875837"/>
          </a:xfrm>
          <a:prstGeom prst="roundRect">
            <a:avLst>
              <a:gd name="adj" fmla="val 1123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422400" y="3929329"/>
            <a:ext cx="203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276595" y="4335729"/>
            <a:ext cx="494744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equal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339975" y="3801269"/>
            <a:ext cx="1416050" cy="875837"/>
          </a:xfrm>
          <a:prstGeom prst="roundRect">
            <a:avLst>
              <a:gd name="adj" fmla="val 1123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865120" y="3929329"/>
            <a:ext cx="36576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==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594140" y="4335729"/>
            <a:ext cx="907653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also equal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863975" y="3801269"/>
            <a:ext cx="1416050" cy="875837"/>
          </a:xfrm>
          <a:prstGeom prst="roundRect">
            <a:avLst>
              <a:gd name="adj" fmla="val 1123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89120" y="3929329"/>
            <a:ext cx="36576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!=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187031" y="4335729"/>
            <a:ext cx="769938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different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387975" y="3801269"/>
            <a:ext cx="1416050" cy="875837"/>
          </a:xfrm>
          <a:prstGeom prst="roundRect">
            <a:avLst>
              <a:gd name="adj" fmla="val 1123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94400" y="3929329"/>
            <a:ext cx="203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705323" y="4335729"/>
            <a:ext cx="781288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less than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6911975" y="3801269"/>
            <a:ext cx="1416050" cy="875837"/>
          </a:xfrm>
          <a:prstGeom prst="roundRect">
            <a:avLst>
              <a:gd name="adj" fmla="val 1123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437120" y="3929329"/>
            <a:ext cx="36576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&lt;=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7282022" y="4335729"/>
            <a:ext cx="675958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at most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8435975" y="3801269"/>
            <a:ext cx="1416050" cy="875837"/>
          </a:xfrm>
          <a:prstGeom prst="roundRect">
            <a:avLst>
              <a:gd name="adj" fmla="val 1123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42400" y="3929329"/>
            <a:ext cx="2032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8585835" y="4335729"/>
            <a:ext cx="1116330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greater than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9959975" y="3801269"/>
            <a:ext cx="1416050" cy="875837"/>
          </a:xfrm>
          <a:prstGeom prst="roundRect">
            <a:avLst>
              <a:gd name="adj" fmla="val 1123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485120" y="3929329"/>
            <a:ext cx="36576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&gt;=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0336934" y="4335729"/>
            <a:ext cx="662067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at </a:t>
            </a: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least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812800" y="4892346"/>
            <a:ext cx="33274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Combine conditions with /\ (and):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140200" y="4883485"/>
            <a:ext cx="4096544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952A3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constraint a != b /\ b != c;</a:t>
            </a:r>
            <a:endParaRPr lang="en-US" sz="1600" b="1" dirty="0">
              <a:solidFill>
                <a:srgbClr val="2952A3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Choosing what to solve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735404"/>
            <a:ext cx="3380317" cy="1360884"/>
          </a:xfrm>
          <a:prstGeom prst="roundRect">
            <a:avLst>
              <a:gd name="adj" fmla="val 9099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1965065"/>
            <a:ext cx="2956306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84614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solve satisfy;</a:t>
            </a:r>
            <a:endParaRPr lang="en-US" sz="1600" b="1" dirty="0">
              <a:solidFill>
                <a:srgbClr val="A84614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71033" y="2351088"/>
            <a:ext cx="2956306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Find a solution that respects every constraint.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05842" y="1735404"/>
            <a:ext cx="3380317" cy="1360884"/>
          </a:xfrm>
          <a:prstGeom prst="roundRect">
            <a:avLst>
              <a:gd name="adj" fmla="val 9099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900" y="1965065"/>
            <a:ext cx="2956306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84614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solve minimize cost;</a:t>
            </a:r>
            <a:endParaRPr lang="en-US" sz="1600" b="1" dirty="0">
              <a:solidFill>
                <a:srgbClr val="A84614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0900" y="2351088"/>
            <a:ext cx="2956306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Find the solution with the smallest cost.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95709" y="1735404"/>
            <a:ext cx="3380317" cy="1360884"/>
          </a:xfrm>
          <a:prstGeom prst="roundRect">
            <a:avLst>
              <a:gd name="adj" fmla="val 9099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767" y="1965065"/>
            <a:ext cx="2956306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84614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solve maximize profit;</a:t>
            </a:r>
            <a:endParaRPr lang="en-US" sz="1600" b="1" dirty="0">
              <a:solidFill>
                <a:srgbClr val="A84614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50767" y="2351088"/>
            <a:ext cx="2956306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Find the solution with the largest profit.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800" y="3302664"/>
            <a:ext cx="10883392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Exactly one solve item per model. In an optimisation, cost or profit is an expression you write: the objective.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3754772"/>
            <a:ext cx="3225866" cy="1695252"/>
          </a:xfrm>
          <a:prstGeom prst="roundRect">
            <a:avLst>
              <a:gd name="adj" fmla="val 7492"/>
            </a:avLst>
          </a:prstGeom>
          <a:solidFill>
            <a:srgbClr val="13203A"/>
          </a:solidFill>
        </p:spPr>
        <p:txBody>
          <a:bodyPr wrap="square" lIns="242203" tIns="166003" rIns="162191" bIns="140603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</a:t>
            </a:r>
            <a:r>
              <a:rPr lang="en-US" sz="14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0..10: x;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</a:t>
            </a:r>
            <a:r>
              <a:rPr lang="en-US" sz="14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0..10: y;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constraint</a:t>
            </a:r>
            <a:r>
              <a:rPr lang="en-US" sz="14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x + y &lt;= 12;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constraint</a:t>
            </a:r>
            <a:r>
              <a:rPr lang="en-US" sz="14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x - y &gt;= 2;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solve</a:t>
            </a:r>
            <a:r>
              <a:rPr lang="en-US" sz="14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maximize</a:t>
            </a:r>
            <a:r>
              <a:rPr lang="en-US" sz="14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3*x + 2*y</a:t>
            </a: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66" y="4112816"/>
            <a:ext cx="7246806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952A3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RESULT</a:t>
            </a:r>
            <a:endParaRPr lang="en-US" sz="1200" b="1" kern="0" spc="150" dirty="0">
              <a:solidFill>
                <a:srgbClr val="2952A3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43466" y="4402336"/>
            <a:ext cx="7246806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x = 10, y = 2</a:t>
            </a:r>
            <a:endParaRPr lang="en-US" sz="20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43466" y="4834136"/>
            <a:ext cx="7246806" cy="2831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The objective 3x + 2y reaches 34, its largest possible value.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Operators by type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735404"/>
            <a:ext cx="10560050" cy="939337"/>
          </a:xfrm>
          <a:prstGeom prst="roundRect">
            <a:avLst>
              <a:gd name="adj" fmla="val 13182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633" y="1890117"/>
            <a:ext cx="1574800" cy="416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A84614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int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5633" y="2306638"/>
            <a:ext cx="1574800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whole numbers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23633" y="1888865"/>
            <a:ext cx="33529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35127" y="1888865"/>
            <a:ext cx="33529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46620" y="1888865"/>
            <a:ext cx="33529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58113" y="1888865"/>
            <a:ext cx="548680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div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82993" y="1888865"/>
            <a:ext cx="548680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mod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23633" y="2290167"/>
            <a:ext cx="8572416" cy="2565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7 div 2 = 3 (whole-number division) · 7 mod 2 = 1 (the remainder)</a:t>
            </a:r>
            <a:endParaRPr lang="en-US" sz="13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5975" y="2808089"/>
            <a:ext cx="10560050" cy="939337"/>
          </a:xfrm>
          <a:prstGeom prst="roundRect">
            <a:avLst>
              <a:gd name="adj" fmla="val 13182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5633" y="2962808"/>
            <a:ext cx="1574800" cy="416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A84614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float</a:t>
            </a:r>
            <a:endParaRPr lang="en-US" sz="2200" b="1" dirty="0">
              <a:solidFill>
                <a:srgbClr val="A84614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5633" y="3379329"/>
            <a:ext cx="1574800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decimal numbers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23633" y="2961549"/>
            <a:ext cx="33529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35127" y="2961549"/>
            <a:ext cx="33529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46620" y="2961549"/>
            <a:ext cx="33529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58113" y="2961549"/>
            <a:ext cx="33529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69606" y="2961549"/>
            <a:ext cx="118877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pow(x, y)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34579" y="2961549"/>
            <a:ext cx="1508786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int2float(i)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9566" y="2961549"/>
            <a:ext cx="65537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sqrt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51139" y="2961549"/>
            <a:ext cx="548680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76018" y="2961549"/>
            <a:ext cx="441986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94205" y="2961549"/>
            <a:ext cx="548680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19084" y="2961549"/>
            <a:ext cx="548680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23633" y="3362858"/>
            <a:ext cx="8572416" cy="2565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Power is pow(2.0, 3.0). Writing 2.0 ** 3.0, as in Python, is an error.</a:t>
            </a:r>
            <a:endParaRPr lang="en-US" sz="13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5975" y="3880780"/>
            <a:ext cx="10560050" cy="939337"/>
          </a:xfrm>
          <a:prstGeom prst="roundRect">
            <a:avLst>
              <a:gd name="adj" fmla="val 13182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5633" y="4035493"/>
            <a:ext cx="1574800" cy="416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A84614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bool</a:t>
            </a:r>
            <a:endParaRPr lang="en-US" sz="2200" b="1" dirty="0">
              <a:solidFill>
                <a:srgbClr val="A84614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5633" y="4452014"/>
            <a:ext cx="1574800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true or false</a:t>
            </a:r>
            <a:endParaRPr lang="en-US" sz="12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823633" y="4034234"/>
            <a:ext cx="86869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/\ and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768527" y="4034234"/>
            <a:ext cx="762000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\/ 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06727" y="4034234"/>
            <a:ext cx="1295400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-&gt; implies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978327" y="4034234"/>
            <a:ext cx="1935493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&lt;- is implied by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90020" y="4034234"/>
            <a:ext cx="2148880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&lt;-&gt; if and only if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215100" y="4034234"/>
            <a:ext cx="548680" cy="325107"/>
          </a:xfrm>
          <a:prstGeom prst="roundRect">
            <a:avLst>
              <a:gd name="adj" fmla="val 23438"/>
            </a:avLst>
          </a:prstGeom>
          <a:solidFill>
            <a:srgbClr val="E7EDF4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not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823633" y="4435543"/>
            <a:ext cx="8572416" cy="2565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The words and / or do not exist in MiniZinc: write the symbols /\ and \/.</a:t>
            </a:r>
            <a:endParaRPr lang="en-US" sz="13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Displaying the result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732229"/>
            <a:ext cx="10566400" cy="685800"/>
          </a:xfrm>
          <a:prstGeom prst="roundRect">
            <a:avLst>
              <a:gd name="adj" fmla="val 18519"/>
            </a:avLst>
          </a:prstGeom>
          <a:solidFill>
            <a:srgbClr val="13203A"/>
          </a:solidFill>
        </p:spPr>
        <p:txBody>
          <a:bodyPr wrap="square" lIns="242203" tIns="140603" rIns="0" bIns="1152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output</a:t>
            </a:r>
            <a:r>
              <a:rPr lang="en-US" sz="2000" b="1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[</a:t>
            </a:r>
            <a:r>
              <a:rPr lang="en-US" sz="2000" b="1" dirty="0">
                <a:solidFill>
                  <a:srgbClr val="9ED9B0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"a = "</a:t>
            </a:r>
            <a:r>
              <a:rPr lang="en-US" sz="2000" b="1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9CC3FF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show</a:t>
            </a:r>
            <a:r>
              <a:rPr lang="en-US" sz="2000" b="1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(a), </a:t>
            </a:r>
            <a:r>
              <a:rPr lang="en-US" sz="2000" b="1" dirty="0">
                <a:solidFill>
                  <a:srgbClr val="9ED9B0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"\n"</a:t>
            </a:r>
            <a:r>
              <a:rPr lang="en-US" sz="2000" b="1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];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5975" y="2624404"/>
            <a:ext cx="5200650" cy="1035844"/>
          </a:xfrm>
          <a:prstGeom prst="roundRect">
            <a:avLst>
              <a:gd name="adj" fmla="val 11954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633" y="2828665"/>
            <a:ext cx="4883573" cy="3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952A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 … 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5633" y="3207085"/>
            <a:ext cx="4883573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A list of strings, separated by commas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5375" y="2624404"/>
            <a:ext cx="5200650" cy="1035844"/>
          </a:xfrm>
          <a:prstGeom prst="roundRect">
            <a:avLst>
              <a:gd name="adj" fmla="val 11954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5033" y="2828665"/>
            <a:ext cx="4883573" cy="3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952A3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show(a)</a:t>
            </a:r>
            <a:endParaRPr lang="en-US" sz="1700" b="1" dirty="0">
              <a:solidFill>
                <a:srgbClr val="2952A3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5033" y="3207085"/>
            <a:ext cx="4883573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Turns the value of a into a string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5975" y="3818998"/>
            <a:ext cx="5200650" cy="1035844"/>
          </a:xfrm>
          <a:prstGeom prst="roundRect">
            <a:avLst>
              <a:gd name="adj" fmla="val 11954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5633" y="4023258"/>
            <a:ext cx="4883573" cy="3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952A3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"\n" "\t"</a:t>
            </a:r>
            <a:endParaRPr lang="en-US" sz="1700" b="1" dirty="0">
              <a:solidFill>
                <a:srgbClr val="2952A3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5633" y="4401679"/>
            <a:ext cx="4883573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A new line and a tab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5375" y="3818998"/>
            <a:ext cx="5200650" cy="1035844"/>
          </a:xfrm>
          <a:prstGeom prst="roundRect">
            <a:avLst>
              <a:gd name="adj" fmla="val 11954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5033" y="4023258"/>
            <a:ext cx="4883573" cy="3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952A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 = \(a)"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5033" y="4401679"/>
            <a:ext cx="4883573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Shortcut: \( ) puts a value straight inside a string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2800" y="5096737"/>
            <a:ext cx="1814182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Both versions print: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26982" y="5061217"/>
            <a:ext cx="822960" cy="3454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2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FIRST MODEL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A first complete model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783029"/>
            <a:ext cx="5146344" cy="3917355"/>
          </a:xfrm>
          <a:prstGeom prst="roundRect">
            <a:avLst>
              <a:gd name="adj" fmla="val 3242"/>
            </a:avLst>
          </a:prstGeom>
          <a:solidFill>
            <a:srgbClr val="13203A"/>
          </a:solidFill>
        </p:spPr>
        <p:txBody>
          <a:bodyPr wrap="square" lIns="242203" tIns="166003" rIns="104577" bIns="166003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D9BB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% Three digits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0..9: a;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0..9: b;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var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0..9: c;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 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8D9BB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% Two constraints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constraint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a + b = c;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constraint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a != b /\ b != c /\ a != c;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 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solve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satisfy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;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 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FFB077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output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 [</a:t>
            </a:r>
            <a:r>
              <a:rPr lang="en-US" sz="1600" dirty="0">
                <a:solidFill>
                  <a:srgbClr val="9ED9B0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"a = "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, </a:t>
            </a:r>
            <a:r>
              <a:rPr lang="en-US" sz="1600" dirty="0">
                <a:solidFill>
                  <a:srgbClr val="9CC3FF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show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(a), </a:t>
            </a:r>
            <a:r>
              <a:rPr lang="en-US" sz="1600" dirty="0">
                <a:solidFill>
                  <a:srgbClr val="9ED9B0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", b = "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, </a:t>
            </a:r>
            <a:r>
              <a:rPr lang="en-US" sz="1600" dirty="0">
                <a:solidFill>
                  <a:srgbClr val="9CC3FF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show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(b),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        </a:t>
            </a:r>
            <a:r>
              <a:rPr lang="en-US" sz="1600" dirty="0">
                <a:solidFill>
                  <a:srgbClr val="9ED9B0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", c = "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, </a:t>
            </a:r>
            <a:r>
              <a:rPr lang="en-US" sz="1600" dirty="0">
                <a:solidFill>
                  <a:srgbClr val="9CC3FF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show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(c), </a:t>
            </a:r>
            <a:r>
              <a:rPr lang="en-US" sz="1600" dirty="0">
                <a:solidFill>
                  <a:srgbClr val="9ED9B0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"\n"</a:t>
            </a:r>
            <a:r>
              <a:rPr lang="en-US" sz="1600" dirty="0">
                <a:solidFill>
                  <a:srgbClr val="E8EDF5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];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327444" y="1783029"/>
            <a:ext cx="0" cy="574014"/>
          </a:xfrm>
          <a:prstGeom prst="line">
            <a:avLst/>
          </a:prstGeom>
          <a:noFill/>
          <a:ln w="25400">
            <a:solidFill>
              <a:srgbClr val="A846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544" y="1808429"/>
            <a:ext cx="503325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Variables</a:t>
            </a:r>
            <a:endParaRPr lang="en-US" sz="1500" b="1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92544" y="2100529"/>
            <a:ext cx="5033256" cy="2565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Three digits, each from 0 to 9</a:t>
            </a:r>
            <a:endParaRPr lang="en-US" sz="13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27444" y="2496741"/>
            <a:ext cx="0" cy="574014"/>
          </a:xfrm>
          <a:prstGeom prst="line">
            <a:avLst/>
          </a:prstGeom>
          <a:noFill/>
          <a:ln w="25400">
            <a:solidFill>
              <a:srgbClr val="A846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544" y="2522141"/>
            <a:ext cx="503325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Constraints</a:t>
            </a:r>
            <a:endParaRPr lang="en-US" sz="1500" b="1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544" y="2814241"/>
            <a:ext cx="5033256" cy="2565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a + b equals c, and the three digits are all different</a:t>
            </a:r>
            <a:endParaRPr lang="en-US" sz="13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27444" y="3210458"/>
            <a:ext cx="0" cy="574014"/>
          </a:xfrm>
          <a:prstGeom prst="line">
            <a:avLst/>
          </a:prstGeom>
          <a:noFill/>
          <a:ln w="25400">
            <a:solidFill>
              <a:srgbClr val="A846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544" y="3235858"/>
            <a:ext cx="503325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Solve</a:t>
            </a:r>
            <a:endParaRPr lang="en-US" sz="1500" b="1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544" y="3527958"/>
            <a:ext cx="5033256" cy="2565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Find any solution</a:t>
            </a:r>
            <a:endParaRPr lang="en-US" sz="13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27444" y="3924170"/>
            <a:ext cx="0" cy="574014"/>
          </a:xfrm>
          <a:prstGeom prst="line">
            <a:avLst/>
          </a:prstGeom>
          <a:noFill/>
          <a:ln w="25400">
            <a:solidFill>
              <a:srgbClr val="A846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544" y="3949570"/>
            <a:ext cx="503325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Output</a:t>
            </a:r>
            <a:endParaRPr lang="en-US" sz="1500" b="1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92544" y="4241670"/>
            <a:ext cx="5033256" cy="2565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How the answer is printed</a:t>
            </a:r>
            <a:endParaRPr lang="en-US" sz="13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24269" y="4787106"/>
            <a:ext cx="5045406" cy="903751"/>
          </a:xfrm>
          <a:prstGeom prst="roundRect">
            <a:avLst>
              <a:gd name="adj" fmla="val 12999"/>
            </a:avLst>
          </a:prstGeom>
          <a:solidFill>
            <a:srgbClr val="FBFCFD"/>
          </a:solidFill>
          <a:ln w="19050">
            <a:solidFill>
              <a:srgbClr val="A846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4878" y="4946917"/>
            <a:ext cx="4762915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FIRST SOLUTION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4878" y="5211037"/>
            <a:ext cx="4762915" cy="3454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2, b = 1, c = 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FIRST MODEL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Reading the result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246315"/>
            <a:ext cx="10566400" cy="0"/>
          </a:xfrm>
          <a:prstGeom prst="line">
            <a:avLst/>
          </a:prstGeom>
          <a:noFill/>
          <a:ln w="635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46529"/>
            <a:ext cx="4055110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2, b = 1, c =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03800" y="1855391"/>
            <a:ext cx="6566662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Your output item: one solution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2800" y="2763573"/>
            <a:ext cx="10566400" cy="0"/>
          </a:xfrm>
          <a:prstGeom prst="line">
            <a:avLst/>
          </a:prstGeom>
          <a:noFill/>
          <a:ln w="635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363788"/>
            <a:ext cx="4055110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----------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03800" y="2372655"/>
            <a:ext cx="6566662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End of one solution. There may be more.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2800" y="3529810"/>
            <a:ext cx="10566400" cy="0"/>
          </a:xfrm>
          <a:prstGeom prst="line">
            <a:avLst/>
          </a:prstGeom>
          <a:noFill/>
          <a:ln w="635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005534"/>
            <a:ext cx="4055110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==========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03800" y="2881052"/>
            <a:ext cx="6566662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Search complete: every solution was found, or the optimum is proven.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2800" y="4047067"/>
            <a:ext cx="10566400" cy="0"/>
          </a:xfrm>
          <a:prstGeom prst="line">
            <a:avLst/>
          </a:prstGeom>
          <a:noFill/>
          <a:ln w="635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647281"/>
            <a:ext cx="4055110" cy="3098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=====UNSATISFIABLE=====</a:t>
            </a:r>
            <a:endParaRPr lang="en-US" sz="1600" b="1" dirty="0">
              <a:solidFill>
                <a:srgbClr val="13203A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03800" y="3656149"/>
            <a:ext cx="6566662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No solution exists: the constraints contradict each other.</a:t>
            </a:r>
            <a:endParaRPr lang="en-US" sz="15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5975" y="4256621"/>
            <a:ext cx="6735961" cy="1546357"/>
          </a:xfrm>
          <a:prstGeom prst="roundRect">
            <a:avLst>
              <a:gd name="adj" fmla="val 8008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1033" y="4460875"/>
            <a:ext cx="6412620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952A3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SEE EVERY SOLUTION</a:t>
            </a:r>
            <a:endParaRPr lang="en-US" sz="1200" b="1" kern="0" spc="150" dirty="0">
              <a:solidFill>
                <a:srgbClr val="2952A3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71033" y="4763095"/>
            <a:ext cx="6412620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In the IDE:</a:t>
            </a:r>
            <a:r>
              <a:rPr lang="en-US" sz="14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 open the solver configuration, choose </a:t>
            </a:r>
            <a:r>
              <a:rPr lang="en-US" sz="1400" i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User-defined behavior</a:t>
            </a:r>
            <a:r>
              <a:rPr lang="en-US" sz="14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 and ask for all solutions.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1033" y="5349813"/>
            <a:ext cx="1382117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In a terminal: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453151" y="5349813"/>
            <a:ext cx="2688352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952A3"/>
                </a:solidFill>
                <a:latin typeface="Arial" panose="020B0604020202020204" pitchFamily="34" charset="0"/>
                <a:ea typeface="JetBrains Mono" pitchFamily="49" charset="-122"/>
                <a:cs typeface="Arial" panose="020B0604020202020204" pitchFamily="34" charset="0"/>
              </a:rPr>
              <a:t>minizinc -a model.mzn</a:t>
            </a:r>
            <a:endParaRPr lang="en-US" sz="1400" b="1" dirty="0">
              <a:solidFill>
                <a:srgbClr val="2952A3"/>
              </a:solidFill>
              <a:latin typeface="Arial" panose="020B0604020202020204" pitchFamily="34" charset="0"/>
              <a:ea typeface="JetBrains Mono" pitchFamily="49" charset="-122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58311" y="4253446"/>
            <a:ext cx="3620889" cy="1552707"/>
          </a:xfrm>
          <a:prstGeom prst="roundRect">
            <a:avLst>
              <a:gd name="adj" fmla="val 8179"/>
            </a:avLst>
          </a:prstGeom>
          <a:solidFill>
            <a:srgbClr val="13203A"/>
          </a:solidFill>
        </p:spPr>
      </p:sp>
      <p:sp>
        <p:nvSpPr>
          <p:cNvPr id="22" name="Text 20"/>
          <p:cNvSpPr/>
          <p:nvPr/>
        </p:nvSpPr>
        <p:spPr>
          <a:xfrm>
            <a:off x="8012311" y="4498913"/>
            <a:ext cx="3206276" cy="787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995E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32</a:t>
            </a:r>
            <a:endParaRPr lang="en-US" sz="6000" b="1" dirty="0">
              <a:solidFill>
                <a:srgbClr val="F2995E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12311" y="5311713"/>
            <a:ext cx="3206276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solutions for our first model</a:t>
            </a:r>
            <a:endParaRPr lang="en-US" sz="1400" dirty="0">
              <a:solidFill>
                <a:srgbClr val="E8EDF5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56953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995E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YOUR TURN</a:t>
            </a:r>
            <a:endParaRPr lang="en-US" sz="1200" b="1" kern="0" spc="150" dirty="0">
              <a:solidFill>
                <a:srgbClr val="F2995E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997273"/>
            <a:ext cx="10883392" cy="6654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kern="0" spc="-100" dirty="0">
                <a:solidFill>
                  <a:srgbClr val="F4F6F9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Three exercises from the lecture</a:t>
            </a:r>
            <a:endParaRPr lang="en-US" sz="4800" b="1" i="0" kern="0" spc="-100" dirty="0">
              <a:solidFill>
                <a:srgbClr val="F4F6F9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2996078"/>
            <a:ext cx="3380317" cy="2201730"/>
          </a:xfrm>
          <a:prstGeom prst="roundRect">
            <a:avLst>
              <a:gd name="adj" fmla="val 5624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3251138"/>
            <a:ext cx="2956306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2995E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1</a:t>
            </a:r>
            <a:endParaRPr lang="en-US" sz="3600" b="1" dirty="0">
              <a:solidFill>
                <a:srgbClr val="F2995E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71033" y="3784538"/>
            <a:ext cx="2956306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4F6F9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Colour the map of Australia</a:t>
            </a:r>
            <a:endParaRPr lang="en-US" sz="2000" b="1" dirty="0">
              <a:solidFill>
                <a:srgbClr val="F4F6F9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1033" y="4444938"/>
            <a:ext cx="2956306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6CC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Three colours; neighbours must differ</a:t>
            </a:r>
            <a:endParaRPr lang="en-US" sz="1400" dirty="0">
              <a:solidFill>
                <a:srgbClr val="A9B6CC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05842" y="2996078"/>
            <a:ext cx="3380317" cy="2201730"/>
          </a:xfrm>
          <a:prstGeom prst="roundRect">
            <a:avLst>
              <a:gd name="adj" fmla="val 5624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900" y="3251138"/>
            <a:ext cx="2956306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2995E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2</a:t>
            </a:r>
            <a:endParaRPr lang="en-US" sz="3600" b="1" dirty="0">
              <a:solidFill>
                <a:srgbClr val="F2995E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0900" y="3784538"/>
            <a:ext cx="295630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4F6F9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TWO + TWO = FOUR</a:t>
            </a:r>
            <a:endParaRPr lang="en-US" sz="2000" b="1" dirty="0">
              <a:solidFill>
                <a:srgbClr val="F4F6F9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0900" y="4152838"/>
            <a:ext cx="2956306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6CC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One puzzle, modelled in two ways</a:t>
            </a:r>
            <a:endParaRPr lang="en-US" sz="1400" dirty="0">
              <a:solidFill>
                <a:srgbClr val="A9B6CC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95709" y="2996078"/>
            <a:ext cx="3380317" cy="2201730"/>
          </a:xfrm>
          <a:prstGeom prst="roundRect">
            <a:avLst>
              <a:gd name="adj" fmla="val 5624"/>
            </a:avLst>
          </a:prstGeom>
          <a:solidFill>
            <a:srgbClr val="1F2F52"/>
          </a:solidFill>
          <a:ln w="6350">
            <a:solidFill>
              <a:srgbClr val="3345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0767" y="3251138"/>
            <a:ext cx="2956306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2995E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3</a:t>
            </a:r>
            <a:endParaRPr lang="en-US" sz="3600" b="1" dirty="0">
              <a:solidFill>
                <a:srgbClr val="F2995E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50767" y="3784538"/>
            <a:ext cx="2956306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4F6F9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SEND + MORE = MONEY</a:t>
            </a:r>
            <a:endParaRPr lang="en-US" sz="2000" b="1" dirty="0">
              <a:solidFill>
                <a:srgbClr val="F4F6F9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50767" y="4444938"/>
            <a:ext cx="2956306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6CC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The classic letter sum</a:t>
            </a:r>
            <a:endParaRPr lang="en-US" sz="1400" dirty="0">
              <a:solidFill>
                <a:srgbClr val="A9B6CC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EXERCISE 1</a:t>
            </a:r>
            <a:endParaRPr lang="en-US" sz="1200" b="1" kern="0" spc="150" dirty="0">
              <a:solidFill>
                <a:srgbClr val="A84614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rPr>
              <a:t>Colour the map of Australia</a:t>
            </a:r>
            <a:endParaRPr lang="en-US" sz="3200" b="1" i="0" kern="0" spc="-50" dirty="0">
              <a:solidFill>
                <a:srgbClr val="13203A"/>
              </a:solidFill>
              <a:latin typeface="Arial" panose="020B0604020202020204" pitchFamily="34" charset="0"/>
              <a:ea typeface="Bricolage Grotesque" pitchFamily="34" charset="-122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786204"/>
            <a:ext cx="4819650" cy="3930650"/>
          </a:xfrm>
          <a:prstGeom prst="roundRect">
            <a:avLst>
              <a:gd name="adj" fmla="val 3150"/>
            </a:avLst>
          </a:prstGeom>
          <a:solidFill>
            <a:srgbClr val="F4F6F9"/>
          </a:solidFill>
          <a:ln w="6350">
            <a:solidFill>
              <a:srgbClr val="C9D3E0"/>
            </a:solidFill>
            <a:prstDash val="solid"/>
          </a:ln>
        </p:spPr>
      </p:sp>
      <p:pic>
        <p:nvPicPr>
          <p:cNvPr id="5" name="Image 0" descr="connector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43050" y="2418029"/>
            <a:ext cx="1428750" cy="1333500"/>
          </a:xfrm>
          <a:prstGeom prst="rect">
            <a:avLst/>
          </a:prstGeom>
        </p:spPr>
      </p:pic>
      <p:pic>
        <p:nvPicPr>
          <p:cNvPr id="6" name="Image 1" descr="connector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43050" y="3624529"/>
            <a:ext cx="1555750" cy="254000"/>
          </a:xfrm>
          <a:prstGeom prst="rect">
            <a:avLst/>
          </a:prstGeom>
        </p:spPr>
      </p:pic>
      <p:pic>
        <p:nvPicPr>
          <p:cNvPr id="7" name="Image 2" descr="connector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44800" y="2418029"/>
            <a:ext cx="254000" cy="1460500"/>
          </a:xfrm>
          <a:prstGeom prst="rect">
            <a:avLst/>
          </a:prstGeom>
        </p:spPr>
      </p:pic>
      <p:pic>
        <p:nvPicPr>
          <p:cNvPr id="8" name="Image 3" descr="connector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44800" y="2418029"/>
            <a:ext cx="1746250" cy="317500"/>
          </a:xfrm>
          <a:prstGeom prst="rect">
            <a:avLst/>
          </a:prstGeom>
        </p:spPr>
      </p:pic>
      <p:pic>
        <p:nvPicPr>
          <p:cNvPr id="9" name="Image 4" descr="connector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71800" y="2608529"/>
            <a:ext cx="1619250" cy="1270000"/>
          </a:xfrm>
          <a:prstGeom prst="rect">
            <a:avLst/>
          </a:prstGeom>
        </p:spPr>
      </p:pic>
      <p:pic>
        <p:nvPicPr>
          <p:cNvPr id="10" name="Image 5" descr="connector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971800" y="3751529"/>
            <a:ext cx="1778000" cy="317500"/>
          </a:xfrm>
          <a:prstGeom prst="rect">
            <a:avLst/>
          </a:prstGeom>
        </p:spPr>
      </p:pic>
      <p:pic>
        <p:nvPicPr>
          <p:cNvPr id="11" name="Image 6" descr="connector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971800" y="3751529"/>
            <a:ext cx="825500" cy="1143000"/>
          </a:xfrm>
          <a:prstGeom prst="rect">
            <a:avLst/>
          </a:prstGeom>
        </p:spPr>
      </p:pic>
      <p:pic>
        <p:nvPicPr>
          <p:cNvPr id="12" name="Image 7" descr="connector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464050" y="2608529"/>
            <a:ext cx="285750" cy="1460500"/>
          </a:xfrm>
          <a:prstGeom prst="rect">
            <a:avLst/>
          </a:prstGeom>
        </p:spPr>
      </p:pic>
      <p:pic>
        <p:nvPicPr>
          <p:cNvPr id="13" name="Image 8" descr="connector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670300" y="3942029"/>
            <a:ext cx="1079500" cy="9525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130300" y="3421329"/>
            <a:ext cx="952500" cy="533400"/>
          </a:xfrm>
          <a:custGeom>
            <a:avLst/>
            <a:gdLst/>
            <a:ahLst/>
            <a:cxnLst/>
            <a:rect l="l" t="t" r="r" b="b"/>
            <a:pathLst>
              <a:path w="952500" h="533400">
                <a:moveTo>
                  <a:pt x="266700" y="0"/>
                </a:moveTo>
                <a:lnTo>
                  <a:pt x="685800" y="0"/>
                </a:lnTo>
                <a:arcTo wR="266700" hR="266700" stAng="16200000" swAng="5400000"/>
                <a:lnTo>
                  <a:pt x="952500" y="266700"/>
                </a:lnTo>
                <a:arcTo wR="266700" hR="266700" stAng="0" swAng="5400000"/>
                <a:lnTo>
                  <a:pt x="266700" y="533400"/>
                </a:lnTo>
                <a:arcTo wR="266700" hR="266700" stAng="5400000" swAng="5400000"/>
                <a:lnTo>
                  <a:pt x="0" y="266700"/>
                </a:lnTo>
                <a:arcTo wR="266700" hR="266700" stAng="10800000" swAng="5400000"/>
                <a:close/>
              </a:path>
            </a:pathLst>
          </a:custGeom>
          <a:solidFill>
            <a:srgbClr val="13203A"/>
          </a:solidFill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</a:t>
            </a:r>
            <a:endParaRPr lang="en-US" sz="1500" dirty="0"/>
          </a:p>
        </p:txBody>
      </p:sp>
      <p:sp>
        <p:nvSpPr>
          <p:cNvPr id="15" name="Text 4"/>
          <p:cNvSpPr/>
          <p:nvPr/>
        </p:nvSpPr>
        <p:spPr>
          <a:xfrm>
            <a:off x="2432050" y="2214829"/>
            <a:ext cx="952500" cy="533400"/>
          </a:xfrm>
          <a:custGeom>
            <a:avLst/>
            <a:gdLst/>
            <a:ahLst/>
            <a:cxnLst/>
            <a:rect l="l" t="t" r="r" b="b"/>
            <a:pathLst>
              <a:path w="952500" h="533400">
                <a:moveTo>
                  <a:pt x="266700" y="0"/>
                </a:moveTo>
                <a:lnTo>
                  <a:pt x="685800" y="0"/>
                </a:lnTo>
                <a:arcTo wR="266700" hR="266700" stAng="16200000" swAng="5400000"/>
                <a:lnTo>
                  <a:pt x="952500" y="266700"/>
                </a:lnTo>
                <a:arcTo wR="266700" hR="266700" stAng="0" swAng="5400000"/>
                <a:lnTo>
                  <a:pt x="266700" y="533400"/>
                </a:lnTo>
                <a:arcTo wR="266700" hR="266700" stAng="5400000" swAng="5400000"/>
                <a:lnTo>
                  <a:pt x="0" y="266700"/>
                </a:lnTo>
                <a:arcTo wR="266700" hR="266700" stAng="10800000" swAng="5400000"/>
                <a:close/>
              </a:path>
            </a:pathLst>
          </a:custGeom>
          <a:solidFill>
            <a:srgbClr val="13203A"/>
          </a:solidFill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NT</a:t>
            </a:r>
            <a:endParaRPr lang="en-US" sz="1500" dirty="0"/>
          </a:p>
        </p:txBody>
      </p:sp>
      <p:sp>
        <p:nvSpPr>
          <p:cNvPr id="16" name="Text 5"/>
          <p:cNvSpPr/>
          <p:nvPr/>
        </p:nvSpPr>
        <p:spPr>
          <a:xfrm>
            <a:off x="2559050" y="3548329"/>
            <a:ext cx="952500" cy="533400"/>
          </a:xfrm>
          <a:custGeom>
            <a:avLst/>
            <a:gdLst/>
            <a:ahLst/>
            <a:cxnLst/>
            <a:rect l="l" t="t" r="r" b="b"/>
            <a:pathLst>
              <a:path w="952500" h="533400">
                <a:moveTo>
                  <a:pt x="266700" y="0"/>
                </a:moveTo>
                <a:lnTo>
                  <a:pt x="685800" y="0"/>
                </a:lnTo>
                <a:arcTo wR="266700" hR="266700" stAng="16200000" swAng="5400000"/>
                <a:lnTo>
                  <a:pt x="952500" y="266700"/>
                </a:lnTo>
                <a:arcTo wR="266700" hR="266700" stAng="0" swAng="5400000"/>
                <a:lnTo>
                  <a:pt x="266700" y="533400"/>
                </a:lnTo>
                <a:arcTo wR="266700" hR="266700" stAng="5400000" swAng="5400000"/>
                <a:lnTo>
                  <a:pt x="0" y="266700"/>
                </a:lnTo>
                <a:arcTo wR="266700" hR="266700" stAng="10800000" swAng="5400000"/>
                <a:close/>
              </a:path>
            </a:pathLst>
          </a:custGeom>
          <a:solidFill>
            <a:srgbClr val="13203A"/>
          </a:solidFill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SA</a:t>
            </a:r>
            <a:endParaRPr lang="en-US" sz="1500" dirty="0"/>
          </a:p>
        </p:txBody>
      </p:sp>
      <p:sp>
        <p:nvSpPr>
          <p:cNvPr id="17" name="Text 6"/>
          <p:cNvSpPr/>
          <p:nvPr/>
        </p:nvSpPr>
        <p:spPr>
          <a:xfrm>
            <a:off x="4051300" y="2405329"/>
            <a:ext cx="952500" cy="533400"/>
          </a:xfrm>
          <a:custGeom>
            <a:avLst/>
            <a:gdLst/>
            <a:ahLst/>
            <a:cxnLst/>
            <a:rect l="l" t="t" r="r" b="b"/>
            <a:pathLst>
              <a:path w="952500" h="533400">
                <a:moveTo>
                  <a:pt x="266700" y="0"/>
                </a:moveTo>
                <a:lnTo>
                  <a:pt x="685800" y="0"/>
                </a:lnTo>
                <a:arcTo wR="266700" hR="266700" stAng="16200000" swAng="5400000"/>
                <a:lnTo>
                  <a:pt x="952500" y="266700"/>
                </a:lnTo>
                <a:arcTo wR="266700" hR="266700" stAng="0" swAng="5400000"/>
                <a:lnTo>
                  <a:pt x="266700" y="533400"/>
                </a:lnTo>
                <a:arcTo wR="266700" hR="266700" stAng="5400000" swAng="5400000"/>
                <a:lnTo>
                  <a:pt x="0" y="266700"/>
                </a:lnTo>
                <a:arcTo wR="266700" hR="266700" stAng="10800000" swAng="5400000"/>
                <a:close/>
              </a:path>
            </a:pathLst>
          </a:custGeom>
          <a:solidFill>
            <a:srgbClr val="13203A"/>
          </a:solidFill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</a:t>
            </a:r>
            <a:endParaRPr lang="en-US" sz="1500" dirty="0"/>
          </a:p>
        </p:txBody>
      </p:sp>
      <p:sp>
        <p:nvSpPr>
          <p:cNvPr id="18" name="Text 7"/>
          <p:cNvSpPr/>
          <p:nvPr/>
        </p:nvSpPr>
        <p:spPr>
          <a:xfrm>
            <a:off x="4210050" y="3738829"/>
            <a:ext cx="952500" cy="533400"/>
          </a:xfrm>
          <a:custGeom>
            <a:avLst/>
            <a:gdLst/>
            <a:ahLst/>
            <a:cxnLst/>
            <a:rect l="l" t="t" r="r" b="b"/>
            <a:pathLst>
              <a:path w="952500" h="533400">
                <a:moveTo>
                  <a:pt x="266700" y="0"/>
                </a:moveTo>
                <a:lnTo>
                  <a:pt x="685800" y="0"/>
                </a:lnTo>
                <a:arcTo wR="266700" hR="266700" stAng="16200000" swAng="5400000"/>
                <a:lnTo>
                  <a:pt x="952500" y="266700"/>
                </a:lnTo>
                <a:arcTo wR="266700" hR="266700" stAng="0" swAng="5400000"/>
                <a:lnTo>
                  <a:pt x="266700" y="533400"/>
                </a:lnTo>
                <a:arcTo wR="266700" hR="266700" stAng="5400000" swAng="5400000"/>
                <a:lnTo>
                  <a:pt x="0" y="266700"/>
                </a:lnTo>
                <a:arcTo wR="266700" hR="266700" stAng="10800000" swAng="5400000"/>
                <a:close/>
              </a:path>
            </a:pathLst>
          </a:custGeom>
          <a:solidFill>
            <a:srgbClr val="13203A"/>
          </a:solidFill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NSW</a:t>
            </a:r>
            <a:endParaRPr lang="en-US" sz="1500" dirty="0"/>
          </a:p>
        </p:txBody>
      </p:sp>
      <p:sp>
        <p:nvSpPr>
          <p:cNvPr id="19" name="Text 8"/>
          <p:cNvSpPr/>
          <p:nvPr/>
        </p:nvSpPr>
        <p:spPr>
          <a:xfrm>
            <a:off x="3257550" y="4564329"/>
            <a:ext cx="952500" cy="533400"/>
          </a:xfrm>
          <a:custGeom>
            <a:avLst/>
            <a:gdLst/>
            <a:ahLst/>
            <a:cxnLst/>
            <a:rect l="l" t="t" r="r" b="b"/>
            <a:pathLst>
              <a:path w="952500" h="533400">
                <a:moveTo>
                  <a:pt x="266700" y="0"/>
                </a:moveTo>
                <a:lnTo>
                  <a:pt x="685800" y="0"/>
                </a:lnTo>
                <a:arcTo wR="266700" hR="266700" stAng="16200000" swAng="5400000"/>
                <a:lnTo>
                  <a:pt x="952500" y="266700"/>
                </a:lnTo>
                <a:arcTo wR="266700" hR="266700" stAng="0" swAng="5400000"/>
                <a:lnTo>
                  <a:pt x="266700" y="533400"/>
                </a:lnTo>
                <a:arcTo wR="266700" hR="266700" stAng="5400000" swAng="5400000"/>
                <a:lnTo>
                  <a:pt x="0" y="266700"/>
                </a:lnTo>
                <a:arcTo wR="266700" hR="266700" stAng="10800000" swAng="5400000"/>
                <a:close/>
              </a:path>
            </a:pathLst>
          </a:custGeom>
          <a:solidFill>
            <a:srgbClr val="13203A"/>
          </a:solidFill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1500" b="1" dirty="0">
                <a:solidFill>
                  <a:srgbClr val="F4F6F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</a:t>
            </a:r>
            <a:endParaRPr lang="en-US" sz="1500" dirty="0"/>
          </a:p>
        </p:txBody>
      </p:sp>
      <p:sp>
        <p:nvSpPr>
          <p:cNvPr id="20" name="Text 9"/>
          <p:cNvSpPr/>
          <p:nvPr/>
        </p:nvSpPr>
        <p:spPr>
          <a:xfrm>
            <a:off x="4537075" y="5081854"/>
            <a:ext cx="933450" cy="510117"/>
          </a:xfrm>
          <a:custGeom>
            <a:avLst/>
            <a:gdLst/>
            <a:ahLst/>
            <a:cxnLst/>
            <a:rect l="l" t="t" r="r" b="b"/>
            <a:pathLst>
              <a:path w="933450" h="510117">
                <a:moveTo>
                  <a:pt x="255058" y="0"/>
                </a:moveTo>
                <a:lnTo>
                  <a:pt x="678392" y="0"/>
                </a:lnTo>
                <a:arcTo wR="255058" hR="255058" stAng="16200000" swAng="5400000"/>
                <a:lnTo>
                  <a:pt x="933450" y="255058"/>
                </a:lnTo>
                <a:arcTo wR="255058" hR="255058" stAng="0" swAng="5400000"/>
                <a:lnTo>
                  <a:pt x="255058" y="510117"/>
                </a:lnTo>
                <a:arcTo wR="255058" hR="255058" stAng="5400000" swAng="5400000"/>
                <a:lnTo>
                  <a:pt x="0" y="255058"/>
                </a:lnTo>
                <a:arcTo wR="255058" hR="255058" stAng="10800000" swAng="5400000"/>
                <a:close/>
              </a:path>
            </a:pathLst>
          </a:custGeom>
          <a:solidFill>
            <a:srgbClr val="F4F6F9"/>
          </a:solidFill>
          <a:ln w="19050">
            <a:solidFill>
              <a:srgbClr val="13203A"/>
            </a:solidFill>
            <a:prstDash val="dash"/>
          </a:ln>
        </p:spPr>
        <p:txBody>
          <a:bodyPr wrap="square" lIns="0" tIns="7408" rIns="0" bIns="0" rtlCol="0" anchor="t">
            <a:normAutofit/>
          </a:bodyPr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</a:t>
            </a:r>
            <a:endParaRPr lang="en-US" sz="1500" dirty="0"/>
          </a:p>
        </p:txBody>
      </p:sp>
      <p:sp>
        <p:nvSpPr>
          <p:cNvPr id="21" name="Text 10"/>
          <p:cNvSpPr/>
          <p:nvPr/>
        </p:nvSpPr>
        <p:spPr>
          <a:xfrm>
            <a:off x="5994400" y="1783029"/>
            <a:ext cx="554634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Give each region a colour so that two neighbours (joined by a line) never share a colour. T, Tasmania, is an island.</a:t>
            </a:r>
            <a:endParaRPr lang="en-US" sz="1500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6051550" y="2488514"/>
            <a:ext cx="5378450" cy="1597157"/>
          </a:xfrm>
          <a:prstGeom prst="roundRect">
            <a:avLst>
              <a:gd name="adj" fmla="val 7753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4" name="Text 13"/>
          <p:cNvSpPr/>
          <p:nvPr/>
        </p:nvSpPr>
        <p:spPr>
          <a:xfrm>
            <a:off x="6210723" y="2747980"/>
            <a:ext cx="5119031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 Use integers for the three colours:</a:t>
            </a:r>
            <a:endParaRPr lang="en-US" sz="1400" dirty="0">
              <a:solidFill>
                <a:srgbClr val="46536B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6201833" y="3565196"/>
            <a:ext cx="1083469" cy="350507"/>
          </a:xfrm>
          <a:prstGeom prst="roundRect">
            <a:avLst>
              <a:gd name="adj" fmla="val 21740"/>
            </a:avLst>
          </a:prstGeom>
          <a:solidFill>
            <a:srgbClr val="F4F6F9"/>
          </a:solidFill>
        </p:spPr>
      </p:sp>
      <p:sp>
        <p:nvSpPr>
          <p:cNvPr id="26" name="Shape 15"/>
          <p:cNvSpPr/>
          <p:nvPr/>
        </p:nvSpPr>
        <p:spPr>
          <a:xfrm>
            <a:off x="6316133" y="366421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C8442E"/>
          </a:solidFill>
        </p:spPr>
      </p:sp>
      <p:sp>
        <p:nvSpPr>
          <p:cNvPr id="27" name="Text 16"/>
          <p:cNvSpPr/>
          <p:nvPr/>
        </p:nvSpPr>
        <p:spPr>
          <a:xfrm>
            <a:off x="6544734" y="3615996"/>
            <a:ext cx="740568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0 </a:t>
            </a:r>
            <a:r>
              <a:rPr lang="en-US" sz="1400" b="1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= </a:t>
            </a: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red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7386903" y="3565196"/>
            <a:ext cx="1152062" cy="350507"/>
          </a:xfrm>
          <a:prstGeom prst="roundRect">
            <a:avLst>
              <a:gd name="adj" fmla="val 21740"/>
            </a:avLst>
          </a:prstGeom>
          <a:solidFill>
            <a:srgbClr val="F4F6F9"/>
          </a:solidFill>
        </p:spPr>
      </p:sp>
      <p:sp>
        <p:nvSpPr>
          <p:cNvPr id="29" name="Shape 18"/>
          <p:cNvSpPr/>
          <p:nvPr/>
        </p:nvSpPr>
        <p:spPr>
          <a:xfrm>
            <a:off x="7501203" y="366421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952A3"/>
          </a:solidFill>
        </p:spPr>
      </p:sp>
      <p:sp>
        <p:nvSpPr>
          <p:cNvPr id="30" name="Text 19"/>
          <p:cNvSpPr/>
          <p:nvPr/>
        </p:nvSpPr>
        <p:spPr>
          <a:xfrm>
            <a:off x="7729803" y="3615996"/>
            <a:ext cx="809162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1 = blue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8640564" y="3565196"/>
            <a:ext cx="1282237" cy="350507"/>
          </a:xfrm>
          <a:prstGeom prst="roundRect">
            <a:avLst>
              <a:gd name="adj" fmla="val 21740"/>
            </a:avLst>
          </a:prstGeom>
          <a:solidFill>
            <a:srgbClr val="F4F6F9"/>
          </a:solidFill>
        </p:spPr>
      </p:sp>
      <p:sp>
        <p:nvSpPr>
          <p:cNvPr id="32" name="Shape 21"/>
          <p:cNvSpPr/>
          <p:nvPr/>
        </p:nvSpPr>
        <p:spPr>
          <a:xfrm>
            <a:off x="8754864" y="366421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</p:spPr>
      </p:sp>
      <p:sp>
        <p:nvSpPr>
          <p:cNvPr id="33" name="Text 22"/>
          <p:cNvSpPr/>
          <p:nvPr/>
        </p:nvSpPr>
        <p:spPr>
          <a:xfrm>
            <a:off x="8983464" y="3615996"/>
            <a:ext cx="939337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2 = green</a:t>
            </a:r>
            <a:endParaRPr lang="en-US" sz="1400" b="1" dirty="0">
              <a:solidFill>
                <a:srgbClr val="13203A"/>
              </a:solidFill>
              <a:latin typeface="Arial" panose="020B0604020202020204" pitchFamily="34" charset="0"/>
              <a:ea typeface="Lexend" pitchFamily="34" charset="-122"/>
              <a:cs typeface="Arial" panose="020B0604020202020204" pitchFamily="34" charset="0"/>
            </a:endParaRPr>
          </a:p>
        </p:txBody>
      </p:sp>
      <p:sp>
        <p:nvSpPr>
          <p:cNvPr id="34" name="Text 23"/>
          <p:cNvSpPr/>
          <p:nvPr/>
        </p:nvSpPr>
        <p:spPr>
          <a:xfrm>
            <a:off x="6047780" y="4275534"/>
            <a:ext cx="5485344" cy="1092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00660" indent="-200660" algn="l">
              <a:lnSpc>
                <a:spcPts val="210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Declare one variable per region (7 variables)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0660" indent="-200660" algn="l">
              <a:lnSpc>
                <a:spcPts val="210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Write one constraint per border (9 lines)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0660" indent="-200660" algn="l">
              <a:lnSpc>
                <a:spcPts val="210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Solve and print the colour of each region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0660" indent="-200660" algn="l">
              <a:lnSpc>
                <a:spcPts val="210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3203A"/>
                </a:solidFill>
                <a:latin typeface="Arial" panose="020B0604020202020204" pitchFamily="34" charset="0"/>
                <a:ea typeface="Lexend" pitchFamily="34" charset="-122"/>
                <a:cs typeface="Arial" panose="020B0604020202020204" pitchFamily="34" charset="0"/>
              </a:rPr>
              <a:t>Bonus: how many solutions exist?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EXERCISE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+ TWO = FOUR, two 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62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1633" y="17872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03375" y="17862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9033" y="17872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390775" y="17862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66433" y="17872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49600" y="1783035"/>
            <a:ext cx="74930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A8461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15975" y="25736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1633" y="25746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603375" y="25736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9033" y="25746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390775" y="25736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66433" y="25746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12800" y="3357835"/>
            <a:ext cx="3060700" cy="38100"/>
          </a:xfrm>
          <a:prstGeom prst="roundRect">
            <a:avLst>
              <a:gd name="adj" fmla="val 50000"/>
            </a:avLst>
          </a:prstGeom>
          <a:solidFill>
            <a:srgbClr val="A84614"/>
          </a:solidFill>
        </p:spPr>
      </p:sp>
      <p:sp>
        <p:nvSpPr>
          <p:cNvPr id="18" name="Shape 16"/>
          <p:cNvSpPr/>
          <p:nvPr/>
        </p:nvSpPr>
        <p:spPr>
          <a:xfrm>
            <a:off x="815975" y="34880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1633" y="34890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603375" y="34880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79033" y="34890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2390775" y="34880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66433" y="34890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3178175" y="3488010"/>
            <a:ext cx="692150" cy="692150"/>
          </a:xfrm>
          <a:prstGeom prst="roundRect">
            <a:avLst>
              <a:gd name="adj" fmla="val 12385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3833" y="3489069"/>
            <a:ext cx="740833" cy="715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28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330700" y="1783035"/>
            <a:ext cx="7259955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Each letter is a different digit. T and F cannot be 0.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33875" y="2205310"/>
            <a:ext cx="3441700" cy="1484114"/>
          </a:xfrm>
          <a:prstGeom prst="roundRect">
            <a:avLst>
              <a:gd name="adj" fmla="val 8343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8133" y="2384165"/>
            <a:ext cx="3124179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952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MODEL 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38133" y="2673685"/>
            <a:ext cx="3124179" cy="2882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global constraint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38133" y="3012753"/>
            <a:ext cx="3124179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whole addition as a single equation.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34325" y="2205310"/>
            <a:ext cx="3441700" cy="1484114"/>
          </a:xfrm>
          <a:prstGeom prst="roundRect">
            <a:avLst>
              <a:gd name="adj" fmla="val 8343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584" y="2384165"/>
            <a:ext cx="3124179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952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MODEL 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584" y="2673685"/>
            <a:ext cx="3234266" cy="2882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constraint per column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138584" y="3012753"/>
            <a:ext cx="3124179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Right to left, with carries c1, c2, c3 (0 or 1).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30700" y="3844999"/>
            <a:ext cx="7259955" cy="2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“All letters different” in one line, with a global constraint: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330700" y="4170102"/>
            <a:ext cx="7048500" cy="732764"/>
          </a:xfrm>
          <a:prstGeom prst="roundRect">
            <a:avLst>
              <a:gd name="adj" fmla="val 13865"/>
            </a:avLst>
          </a:prstGeom>
          <a:solidFill>
            <a:srgbClr val="13203A"/>
          </a:solidFill>
        </p:spPr>
        <p:txBody>
          <a:bodyPr wrap="square" lIns="173442" tIns="97242" rIns="0" bIns="71842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FB0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include</a:t>
            </a: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300" dirty="0">
                <a:solidFill>
                  <a:srgbClr val="9ED9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"alldifferent.mzn"</a:t>
            </a: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FB0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constraint</a:t>
            </a: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300" dirty="0">
                <a:solidFill>
                  <a:srgbClr val="9CC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alldifferent</a:t>
            </a: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([T, W, O, F, U, R]);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30700" y="5055270"/>
            <a:ext cx="7259955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Then compare:</a:t>
            </a:r>
            <a:r>
              <a:rPr lang="en-US" sz="14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run both with solving statistics on (terminal: -s). Which model explores fewer nodes?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EXERCISE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SEND + MORE = MONEY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62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1633" y="17872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552575" y="17862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8233" y="17872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9175" y="17862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4833" y="17872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025775" y="17862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1433" y="17872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33800" y="1783035"/>
            <a:ext cx="71120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A8461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15975" y="25228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1633" y="25238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552575" y="25228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28233" y="25238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2289175" y="25228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4833" y="25238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025775" y="25228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1433" y="25238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12800" y="3256235"/>
            <a:ext cx="3606800" cy="38100"/>
          </a:xfrm>
          <a:prstGeom prst="roundRect">
            <a:avLst>
              <a:gd name="adj" fmla="val 50000"/>
            </a:avLst>
          </a:prstGeom>
          <a:solidFill>
            <a:srgbClr val="A84614"/>
          </a:solidFill>
        </p:spPr>
      </p:sp>
      <p:sp>
        <p:nvSpPr>
          <p:cNvPr id="22" name="Shape 20"/>
          <p:cNvSpPr/>
          <p:nvPr/>
        </p:nvSpPr>
        <p:spPr>
          <a:xfrm>
            <a:off x="815975" y="33737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1633" y="33747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552575" y="33737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28233" y="33747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2289175" y="33737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64833" y="33747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3025775" y="33737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01433" y="33747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3762375" y="3373710"/>
            <a:ext cx="654050" cy="654050"/>
          </a:xfrm>
          <a:prstGeom prst="roundRect">
            <a:avLst>
              <a:gd name="adj" fmla="val 13107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8033" y="3374769"/>
            <a:ext cx="702733" cy="6773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600" b="1" dirty="0">
                <a:solidFill>
                  <a:srgbClr val="1320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876800" y="1783035"/>
            <a:ext cx="6697472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Each letter is a different digit. S and M cannot be 0.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30180" y="2227535"/>
            <a:ext cx="6636472" cy="1092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00660" indent="-200660" algn="l">
              <a:lnSpc>
                <a:spcPts val="210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Model it with Model A or Model B, as you prefer</a:t>
            </a:r>
            <a:endParaRPr lang="en-US" sz="1400" dirty="0"/>
          </a:p>
          <a:p>
            <a:pPr marL="200660" indent="-200660" algn="l">
              <a:lnSpc>
                <a:spcPts val="210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alldifferent for the eight letters</a:t>
            </a:r>
            <a:endParaRPr lang="en-US" sz="1400" dirty="0"/>
          </a:p>
          <a:p>
            <a:pPr marL="200660" indent="-200660" algn="l">
              <a:lnSpc>
                <a:spcPts val="210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Ask for all solutions: is the answer unique?</a:t>
            </a:r>
            <a:endParaRPr lang="en-US" sz="1400" dirty="0"/>
          </a:p>
          <a:p>
            <a:pPr marL="200660" indent="-200660" algn="l">
              <a:lnSpc>
                <a:spcPts val="210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3203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Check by hand that your numbers add up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79975" y="3475310"/>
            <a:ext cx="6496050" cy="1145051"/>
          </a:xfrm>
          <a:prstGeom prst="roundRect">
            <a:avLst>
              <a:gd name="adj" fmla="val 10814"/>
            </a:avLst>
          </a:prstGeom>
          <a:solidFill>
            <a:srgbClr val="FBFCFD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233" y="3654165"/>
            <a:ext cx="6270159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952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HINT FOR MODEL 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233" y="3943685"/>
            <a:ext cx="6270159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There are four columns to add, so you need four carries. The last carry becomes 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61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WHAT TO REMEMBER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1379200" cy="4521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Describe what a solution looks like. The solver finds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6210"/>
            <a:ext cx="3380317" cy="1693730"/>
          </a:xfrm>
          <a:prstGeom prst="roundRect">
            <a:avLst>
              <a:gd name="adj" fmla="val 7311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015865"/>
            <a:ext cx="295630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Describe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033" y="2396865"/>
            <a:ext cx="295630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52A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var 0..9: a;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1033" y="2752465"/>
            <a:ext cx="2956306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unknowns and the values they may take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42" y="1786210"/>
            <a:ext cx="3380317" cy="1693730"/>
          </a:xfrm>
          <a:prstGeom prst="roundRect">
            <a:avLst>
              <a:gd name="adj" fmla="val 7311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900" y="2015865"/>
            <a:ext cx="295630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Constrain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0900" y="2396865"/>
            <a:ext cx="295630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52A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constraint a + b = c;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0900" y="2752465"/>
            <a:ext cx="2956306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rules every solution must respect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9" y="1786210"/>
            <a:ext cx="3380317" cy="1693730"/>
          </a:xfrm>
          <a:prstGeom prst="roundRect">
            <a:avLst>
              <a:gd name="adj" fmla="val 7311"/>
            </a:avLst>
          </a:prstGeom>
          <a:solidFill>
            <a:srgbClr val="FBFCFD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0767" y="2015865"/>
            <a:ext cx="295630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Ask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50767" y="2396865"/>
            <a:ext cx="2956306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952A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solve satisfy;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50767" y="2752465"/>
            <a:ext cx="2956306" cy="5232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36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What to find, then an output to print it</a:t>
            </a:r>
            <a:endParaRPr lang="en-US" sz="1400" dirty="0"/>
          </a:p>
        </p:txBody>
      </p:sp>
      <p:pic>
        <p:nvPicPr>
          <p:cNvPr id="18" name="Image 0" descr="Play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3000" y="4024114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SP with MiniZinc">
  <a:themeElements>
    <a:clrScheme name="CSP with MiniZinc">
      <a:dk1>
        <a:srgbClr val="13203A"/>
      </a:dk1>
      <a:lt1>
        <a:srgbClr val="F4F6F9"/>
      </a:lt1>
      <a:dk2>
        <a:srgbClr val="4B566A"/>
      </a:dk2>
      <a:lt2>
        <a:srgbClr val="DEE1E6"/>
      </a:lt2>
      <a:accent1>
        <a:srgbClr val="A84614"/>
      </a:accent1>
      <a:accent2>
        <a:srgbClr val="2952A3"/>
      </a:accent2>
      <a:accent3>
        <a:srgbClr val="F2995E"/>
      </a:accent3>
      <a:accent4>
        <a:srgbClr val="C8442E"/>
      </a:accent4>
      <a:accent5>
        <a:srgbClr val="2E8B57"/>
      </a:accent5>
      <a:accent6>
        <a:srgbClr val="46536B"/>
      </a:accent6>
      <a:hlink>
        <a:srgbClr val="0563C1"/>
      </a:hlink>
      <a:folHlink>
        <a:srgbClr val="954F72"/>
      </a:folHlink>
    </a:clrScheme>
    <a:fontScheme name="CSP with MiniZinc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SP with MiniZinc">
  <a:themeElements>
    <a:clrScheme name="CSP with MiniZinc">
      <a:dk1>
        <a:srgbClr val="13203A"/>
      </a:dk1>
      <a:lt1>
        <a:srgbClr val="F4F6F9"/>
      </a:lt1>
      <a:dk2>
        <a:srgbClr val="4B566A"/>
      </a:dk2>
      <a:lt2>
        <a:srgbClr val="DEE1E6"/>
      </a:lt2>
      <a:accent1>
        <a:srgbClr val="A84614"/>
      </a:accent1>
      <a:accent2>
        <a:srgbClr val="2952A3"/>
      </a:accent2>
      <a:accent3>
        <a:srgbClr val="F2995E"/>
      </a:accent3>
      <a:accent4>
        <a:srgbClr val="C8442E"/>
      </a:accent4>
      <a:accent5>
        <a:srgbClr val="2E8B57"/>
      </a:accent5>
      <a:accent6>
        <a:srgbClr val="46536B"/>
      </a:accent6>
      <a:hlink>
        <a:srgbClr val="0563C1"/>
      </a:hlink>
      <a:folHlink>
        <a:srgbClr val="954F72"/>
      </a:folHlink>
    </a:clrScheme>
    <a:fontScheme name="CSP with MiniZinc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6354</Words>
  <Application>WPS Presentation</Application>
  <PresentationFormat>On-screen Show (16:9)</PresentationFormat>
  <Paragraphs>590</Paragraphs>
  <Slides>18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SimSun</vt:lpstr>
      <vt:lpstr>Wingdings</vt:lpstr>
      <vt:lpstr>Bricolage Grotesque</vt:lpstr>
      <vt:lpstr>Segoe Print</vt:lpstr>
      <vt:lpstr>Bricolage Grotesque</vt:lpstr>
      <vt:lpstr>Bricolage Grotesque</vt:lpstr>
      <vt:lpstr>MingLiU-ExtB</vt:lpstr>
      <vt:lpstr>Lexend</vt:lpstr>
      <vt:lpstr>Lexend</vt:lpstr>
      <vt:lpstr>Lexend</vt:lpstr>
      <vt:lpstr>JetBrains Mono</vt:lpstr>
      <vt:lpstr>JetBrains Mono</vt:lpstr>
      <vt:lpstr>JetBrains Mono</vt:lpstr>
      <vt:lpstr>Microsoft YaHei</vt:lpstr>
      <vt:lpstr>Arial Unicode MS</vt:lpstr>
      <vt:lpstr>CSP with MiniZinc</vt:lpstr>
      <vt:lpstr>Solving constraint problems with MiniZinc</vt:lpstr>
      <vt:lpstr>By the end of this session, you can…</vt:lpstr>
      <vt:lpstr>What is MiniZinc?</vt:lpstr>
      <vt:lpstr>One model, many solvers</vt:lpstr>
      <vt:lpstr>Reminder: a CSP has four parts</vt:lpstr>
      <vt:lpstr>Declaring a variable</vt:lpstr>
      <vt:lpstr>Parameters: values that never change</vt:lpstr>
      <vt:lpstr>Writing a constraint</vt:lpstr>
      <vt:lpstr>Choosing what to solve</vt:lpstr>
      <vt:lpstr>Operators by type</vt:lpstr>
      <vt:lpstr>Displaying the result</vt:lpstr>
      <vt:lpstr>A first complete model</vt:lpstr>
      <vt:lpstr>Reading the result</vt:lpstr>
      <vt:lpstr>Three exercises from the lecture</vt:lpstr>
      <vt:lpstr>Colour the map of Australia</vt:lpstr>
      <vt:lpstr>TWO + TWO = FOUR, two ways</vt:lpstr>
      <vt:lpstr>SEND + MORE = MONEY</vt:lpstr>
      <vt:lpstr>Describe what a solution looks like. The solver finds it.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with MiniZinc</dc:title>
  <dc:creator/>
  <cp:lastModifiedBy>samia haboussi</cp:lastModifiedBy>
  <cp:revision>5</cp:revision>
  <dcterms:created xsi:type="dcterms:W3CDTF">2026-10-19T18:31:00Z</dcterms:created>
  <dcterms:modified xsi:type="dcterms:W3CDTF">2026-10-24T14:50:41Z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9A7205B3145146178067868EDCA50A96_12</vt:lpwstr>
  </property>
</Properties>
</file>